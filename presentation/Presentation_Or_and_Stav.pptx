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00200"/>
            <a:ext cx="10515600" cy="914400"/>
          </a:xfrm>
          <a:prstGeom prst="rect">
            <a:avLst/>
          </a:prstGeom>
          <a:noFill/>
        </p:spPr>
        <p:txBody>
          <a:bodyPr wrap="square" lIns="0" rIns="0" tIns="0" bIns="0">
            <a:spAutoFit/>
          </a:bodyPr>
          <a:lstStyle/>
          <a:p>
            <a:pPr algn="l"/>
            <a:r>
              <a:rPr sz="5000" b="1" i="0">
                <a:solidFill>
                  <a:srgbClr val="FFFFFF"/>
                </a:solidFill>
                <a:latin typeface="Cambria"/>
              </a:rPr>
              <a:t>Beyond the Cluster</a:t>
            </a:r>
          </a:p>
        </p:txBody>
      </p:sp>
      <p:sp>
        <p:nvSpPr>
          <p:cNvPr id="4" name="TextBox 3"/>
          <p:cNvSpPr txBox="1"/>
          <p:nvPr/>
        </p:nvSpPr>
        <p:spPr>
          <a:xfrm>
            <a:off x="822960" y="2606040"/>
            <a:ext cx="9966960" cy="1143000"/>
          </a:xfrm>
          <a:prstGeom prst="rect">
            <a:avLst/>
          </a:prstGeom>
          <a:noFill/>
        </p:spPr>
        <p:txBody>
          <a:bodyPr wrap="square" lIns="0" rIns="0" tIns="0" bIns="0">
            <a:spAutoFit/>
          </a:bodyPr>
          <a:lstStyle/>
          <a:p>
            <a:pPr algn="l">
              <a:lnSpc>
                <a:spcPct val="112000"/>
              </a:lnSpc>
            </a:pPr>
            <a:r>
              <a:rPr sz="1900" b="0" i="0">
                <a:solidFill>
                  <a:srgbClr val="C9BFB2"/>
                </a:solidFill>
                <a:latin typeface="Calibri"/>
              </a:rPr>
              <a:t>Which Israeli local authorities out- and under-perform their socio-economic standing in national achievement tests?</a:t>
            </a:r>
          </a:p>
        </p:txBody>
      </p:sp>
      <p:sp>
        <p:nvSpPr>
          <p:cNvPr id="5" name="Rectangle 4"/>
          <p:cNvSpPr/>
          <p:nvPr/>
        </p:nvSpPr>
        <p:spPr>
          <a:xfrm>
            <a:off x="822960" y="4041648"/>
            <a:ext cx="384048" cy="310896"/>
          </a:xfrm>
          <a:prstGeom prst="rect">
            <a:avLst/>
          </a:prstGeom>
          <a:solidFill>
            <a:srgbClr val="A7BEAE">
              <a:lumMod val="25000"/>
              <a:lumOff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98448" y="4041648"/>
            <a:ext cx="384048" cy="310896"/>
          </a:xfrm>
          <a:prstGeom prst="rect">
            <a:avLst/>
          </a:prstGeom>
          <a:solidFill>
            <a:srgbClr val="A7BEAE">
              <a:lumMod val="36000"/>
              <a:lumOff val="6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73936" y="4041648"/>
            <a:ext cx="384048" cy="310896"/>
          </a:xfrm>
          <a:prstGeom prst="rect">
            <a:avLst/>
          </a:prstGeom>
          <a:solidFill>
            <a:srgbClr val="A7BEAE">
              <a:lumMod val="47000"/>
              <a:lumOff val="53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49424" y="4041648"/>
            <a:ext cx="384048" cy="310896"/>
          </a:xfrm>
          <a:prstGeom prst="rect">
            <a:avLst/>
          </a:prstGeom>
          <a:solidFill>
            <a:srgbClr val="A7BEAE">
              <a:lumMod val="58000"/>
              <a:lumOff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24912" y="4041648"/>
            <a:ext cx="384048" cy="310896"/>
          </a:xfrm>
          <a:prstGeom prst="rect">
            <a:avLst/>
          </a:prstGeom>
          <a:solidFill>
            <a:srgbClr val="A7BEAE">
              <a:lumMod val="69000"/>
              <a:lumOff val="31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0" y="4041648"/>
            <a:ext cx="384048" cy="310896"/>
          </a:xfrm>
          <a:prstGeom prst="rect">
            <a:avLst/>
          </a:prstGeom>
          <a:solidFill>
            <a:srgbClr val="A7BEAE">
              <a:lumMod val="80000"/>
              <a:lumOff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75888" y="4041648"/>
            <a:ext cx="384048" cy="310896"/>
          </a:xfrm>
          <a:prstGeom prst="rect">
            <a:avLst/>
          </a:prstGeom>
          <a:solidFill>
            <a:srgbClr val="A7BEAE">
              <a:lumMod val="91000"/>
              <a:lumOff val="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51376" y="4041648"/>
            <a:ext cx="384048" cy="310896"/>
          </a:xfrm>
          <a:prstGeom prst="rect">
            <a:avLst/>
          </a:prstGeom>
          <a:solidFill>
            <a:srgbClr val="A7BEAE">
              <a:lumMod val="9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626864" y="4041648"/>
            <a:ext cx="384048" cy="310896"/>
          </a:xfrm>
          <a:prstGeom prst="rect">
            <a:avLst/>
          </a:prstGeom>
          <a:solidFill>
            <a:srgbClr val="A7BEAE">
              <a:lumMod val="87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02352" y="4041648"/>
            <a:ext cx="384048" cy="310896"/>
          </a:xfrm>
          <a:prstGeom prst="rect">
            <a:avLst/>
          </a:prstGeom>
          <a:solidFill>
            <a:srgbClr val="A7BEAE">
              <a:lumMod val="7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443984"/>
            <a:ext cx="5486400" cy="274320"/>
          </a:xfrm>
          <a:prstGeom prst="rect">
            <a:avLst/>
          </a:prstGeom>
          <a:noFill/>
        </p:spPr>
        <p:txBody>
          <a:bodyPr wrap="square" lIns="0" rIns="0" tIns="0" bIns="0">
            <a:spAutoFit/>
          </a:bodyPr>
          <a:lstStyle/>
          <a:p>
            <a:pPr algn="l"/>
            <a:r>
              <a:rPr sz="1050" b="0" i="0">
                <a:solidFill>
                  <a:srgbClr val="C9BFB2"/>
                </a:solidFill>
                <a:latin typeface="Calibri"/>
              </a:rPr>
              <a:t>official socio-economic cluster, 1 to 10</a:t>
            </a:r>
          </a:p>
        </p:txBody>
      </p:sp>
      <p:sp>
        <p:nvSpPr>
          <p:cNvPr id="16" name="TextBox 15"/>
          <p:cNvSpPr txBox="1"/>
          <p:nvPr/>
        </p:nvSpPr>
        <p:spPr>
          <a:xfrm>
            <a:off x="822960" y="5138928"/>
            <a:ext cx="9966960" cy="365760"/>
          </a:xfrm>
          <a:prstGeom prst="rect">
            <a:avLst/>
          </a:prstGeom>
          <a:noFill/>
        </p:spPr>
        <p:txBody>
          <a:bodyPr wrap="square" lIns="0" rIns="0" tIns="0" bIns="0">
            <a:spAutoFit/>
          </a:bodyPr>
          <a:lstStyle/>
          <a:p>
            <a:pPr algn="l"/>
            <a:r>
              <a:rPr sz="1500" b="0" i="0">
                <a:solidFill>
                  <a:srgbClr val="FFFFFF"/>
                </a:solidFill>
                <a:latin typeface="Calibri"/>
              </a:rPr>
              <a:t>Stav Tchizik (316062835)   ·   Or Cohen (206631509)</a:t>
            </a:r>
          </a:p>
        </p:txBody>
      </p:sp>
      <p:sp>
        <p:nvSpPr>
          <p:cNvPr id="17" name="TextBox 16"/>
          <p:cNvSpPr txBox="1"/>
          <p:nvPr/>
        </p:nvSpPr>
        <p:spPr>
          <a:xfrm>
            <a:off x="822960" y="5504688"/>
            <a:ext cx="9966960" cy="685800"/>
          </a:xfrm>
          <a:prstGeom prst="rect">
            <a:avLst/>
          </a:prstGeom>
          <a:noFill/>
        </p:spPr>
        <p:txBody>
          <a:bodyPr wrap="square" lIns="0" rIns="0" tIns="0" bIns="0">
            <a:spAutoFit/>
          </a:bodyPr>
          <a:lstStyle/>
          <a:p>
            <a:pPr algn="l">
              <a:spcAft>
                <a:spcPts val="400"/>
              </a:spcAft>
            </a:pPr>
            <a:r>
              <a:rPr sz="1300" b="0" i="0">
                <a:solidFill>
                  <a:srgbClr val="C9BFB2"/>
                </a:solidFill>
                <a:latin typeface="Calibri"/>
              </a:rPr>
              <a:t>Introduction to Data Science, Final Project</a:t>
            </a:r>
          </a:p>
          <a:p>
            <a:pPr algn="l"/>
            <a:r>
              <a:rPr sz="1200" b="0" i="0">
                <a:solidFill>
                  <a:srgbClr val="C9BFB2"/>
                </a:solidFill>
                <a:latin typeface="Calibri"/>
              </a:rPr>
              <a:t>Ministry of Education Meitzav scores, 2016 to 2018   ×   CBS Socio-Economic Index of Local Authorities, 2017 edition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Why ask this at the authority level</a:t>
            </a:r>
          </a:p>
        </p:txBody>
      </p:sp>
      <p:sp>
        <p:nvSpPr>
          <p:cNvPr id="3" name="Oval 2"/>
          <p:cNvSpPr/>
          <p:nvPr/>
        </p:nvSpPr>
        <p:spPr>
          <a:xfrm>
            <a:off x="566928" y="1252728"/>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1</a:t>
            </a:r>
          </a:p>
        </p:txBody>
      </p:sp>
      <p:sp>
        <p:nvSpPr>
          <p:cNvPr id="4" name="TextBox 3"/>
          <p:cNvSpPr txBox="1"/>
          <p:nvPr/>
        </p:nvSpPr>
        <p:spPr>
          <a:xfrm>
            <a:off x="1133856" y="1234440"/>
            <a:ext cx="6400800" cy="292608"/>
          </a:xfrm>
          <a:prstGeom prst="rect">
            <a:avLst/>
          </a:prstGeom>
          <a:noFill/>
        </p:spPr>
        <p:txBody>
          <a:bodyPr wrap="square" lIns="0" rIns="0" tIns="0" bIns="0">
            <a:spAutoFit/>
          </a:bodyPr>
          <a:lstStyle/>
          <a:p>
            <a:pPr algn="l"/>
            <a:r>
              <a:rPr sz="1600" b="1" i="0">
                <a:solidFill>
                  <a:srgbClr val="7A4A3F"/>
                </a:solidFill>
                <a:latin typeface="Calibri"/>
              </a:rPr>
              <a:t>Money and staff move by authority</a:t>
            </a:r>
          </a:p>
        </p:txBody>
      </p:sp>
      <p:sp>
        <p:nvSpPr>
          <p:cNvPr id="5" name="TextBox 4"/>
          <p:cNvSpPr txBox="1"/>
          <p:nvPr/>
        </p:nvSpPr>
        <p:spPr>
          <a:xfrm>
            <a:off x="1133856" y="1563624"/>
            <a:ext cx="6400800" cy="914400"/>
          </a:xfrm>
          <a:prstGeom prst="rect">
            <a:avLst/>
          </a:prstGeom>
          <a:noFill/>
        </p:spPr>
        <p:txBody>
          <a:bodyPr wrap="square" lIns="0" rIns="0" tIns="0" bIns="0">
            <a:spAutoFit/>
          </a:bodyPr>
          <a:lstStyle/>
          <a:p>
            <a:pPr algn="l">
              <a:lnSpc>
                <a:spcPct val="103000"/>
              </a:lnSpc>
            </a:pPr>
            <a:r>
              <a:rPr sz="1400" b="0" i="0">
                <a:solidFill>
                  <a:srgbClr val="33302E"/>
                </a:solidFill>
                <a:latin typeface="Calibri"/>
              </a:rPr>
              <a:t>Education budgets, staffing and intervention programmes in Israel are allocated to local authorities, so the authority is the unit a decision actually attaches to.</a:t>
            </a:r>
          </a:p>
        </p:txBody>
      </p:sp>
      <p:sp>
        <p:nvSpPr>
          <p:cNvPr id="6" name="Oval 5"/>
          <p:cNvSpPr/>
          <p:nvPr/>
        </p:nvSpPr>
        <p:spPr>
          <a:xfrm>
            <a:off x="566928" y="2670048"/>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2</a:t>
            </a:r>
          </a:p>
        </p:txBody>
      </p:sp>
      <p:sp>
        <p:nvSpPr>
          <p:cNvPr id="7" name="TextBox 6"/>
          <p:cNvSpPr txBox="1"/>
          <p:nvPr/>
        </p:nvSpPr>
        <p:spPr>
          <a:xfrm>
            <a:off x="1133856" y="2651760"/>
            <a:ext cx="6400800" cy="292608"/>
          </a:xfrm>
          <a:prstGeom prst="rect">
            <a:avLst/>
          </a:prstGeom>
          <a:noFill/>
        </p:spPr>
        <p:txBody>
          <a:bodyPr wrap="square" lIns="0" rIns="0" tIns="0" bIns="0">
            <a:spAutoFit/>
          </a:bodyPr>
          <a:lstStyle/>
          <a:p>
            <a:pPr algn="l"/>
            <a:r>
              <a:rPr sz="1600" b="1" i="0">
                <a:solidFill>
                  <a:srgbClr val="7A4A3F"/>
                </a:solidFill>
                <a:latin typeface="Calibri"/>
              </a:rPr>
              <a:t>The gradient is already known</a:t>
            </a:r>
          </a:p>
        </p:txBody>
      </p:sp>
      <p:sp>
        <p:nvSpPr>
          <p:cNvPr id="8" name="TextBox 7"/>
          <p:cNvSpPr txBox="1"/>
          <p:nvPr/>
        </p:nvSpPr>
        <p:spPr>
          <a:xfrm>
            <a:off x="1133856" y="2980944"/>
            <a:ext cx="6400800" cy="914400"/>
          </a:xfrm>
          <a:prstGeom prst="rect">
            <a:avLst/>
          </a:prstGeom>
          <a:noFill/>
        </p:spPr>
        <p:txBody>
          <a:bodyPr wrap="square" lIns="0" rIns="0" tIns="0" bIns="0">
            <a:spAutoFit/>
          </a:bodyPr>
          <a:lstStyle/>
          <a:p>
            <a:pPr algn="l">
              <a:lnSpc>
                <a:spcPct val="103000"/>
              </a:lnSpc>
            </a:pPr>
            <a:r>
              <a:rPr sz="1400" b="0" i="0">
                <a:solidFill>
                  <a:srgbClr val="33302E"/>
                </a:solidFill>
                <a:latin typeface="Calibri"/>
              </a:rPr>
              <a:t>RAMA publishes a Meitzav report for every authority that already compares it against socio-economically similar authorities. Reproducing that gradient would add nothing.</a:t>
            </a:r>
          </a:p>
        </p:txBody>
      </p:sp>
      <p:sp>
        <p:nvSpPr>
          <p:cNvPr id="9" name="Oval 8"/>
          <p:cNvSpPr/>
          <p:nvPr/>
        </p:nvSpPr>
        <p:spPr>
          <a:xfrm>
            <a:off x="566928" y="4087368"/>
            <a:ext cx="384048" cy="384048"/>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3</a:t>
            </a:r>
          </a:p>
        </p:txBody>
      </p:sp>
      <p:sp>
        <p:nvSpPr>
          <p:cNvPr id="10" name="TextBox 9"/>
          <p:cNvSpPr txBox="1"/>
          <p:nvPr/>
        </p:nvSpPr>
        <p:spPr>
          <a:xfrm>
            <a:off x="1133856" y="4069080"/>
            <a:ext cx="6400800" cy="292608"/>
          </a:xfrm>
          <a:prstGeom prst="rect">
            <a:avLst/>
          </a:prstGeom>
          <a:noFill/>
        </p:spPr>
        <p:txBody>
          <a:bodyPr wrap="square" lIns="0" rIns="0" tIns="0" bIns="0">
            <a:spAutoFit/>
          </a:bodyPr>
          <a:lstStyle/>
          <a:p>
            <a:pPr algn="l"/>
            <a:r>
              <a:rPr sz="1600" b="1" i="0">
                <a:solidFill>
                  <a:srgbClr val="7A4A3F"/>
                </a:solidFill>
                <a:latin typeface="Calibri"/>
              </a:rPr>
              <a:t>The open question is who departs from it</a:t>
            </a:r>
          </a:p>
        </p:txBody>
      </p:sp>
      <p:sp>
        <p:nvSpPr>
          <p:cNvPr id="11" name="TextBox 10"/>
          <p:cNvSpPr txBox="1"/>
          <p:nvPr/>
        </p:nvSpPr>
        <p:spPr>
          <a:xfrm>
            <a:off x="1133856" y="4398264"/>
            <a:ext cx="6400800" cy="914400"/>
          </a:xfrm>
          <a:prstGeom prst="rect">
            <a:avLst/>
          </a:prstGeom>
          <a:noFill/>
        </p:spPr>
        <p:txBody>
          <a:bodyPr wrap="square" lIns="0" rIns="0" tIns="0" bIns="0">
            <a:spAutoFit/>
          </a:bodyPr>
          <a:lstStyle/>
          <a:p>
            <a:pPr algn="l">
              <a:lnSpc>
                <a:spcPct val="103000"/>
              </a:lnSpc>
            </a:pPr>
            <a:r>
              <a:rPr sz="1400" b="0" i="0">
                <a:solidFill>
                  <a:srgbClr val="33302E"/>
                </a:solidFill>
                <a:latin typeface="Calibri"/>
              </a:rPr>
              <a:t>Which authorities score above or below what their circumstances predict, how reliably, and what sets them apart.</a:t>
            </a:r>
          </a:p>
        </p:txBody>
      </p:sp>
      <p:sp>
        <p:nvSpPr>
          <p:cNvPr id="12" name="Rounded Rectangle 11"/>
          <p:cNvSpPr/>
          <p:nvPr/>
        </p:nvSpPr>
        <p:spPr>
          <a:xfrm>
            <a:off x="566928" y="5486400"/>
            <a:ext cx="6967728" cy="7315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1247" y="5650992"/>
            <a:ext cx="6419088" cy="457200"/>
          </a:xfrm>
          <a:prstGeom prst="rect">
            <a:avLst/>
          </a:prstGeom>
          <a:noFill/>
        </p:spPr>
        <p:txBody>
          <a:bodyPr wrap="square" lIns="0" rIns="0" tIns="0" bIns="0">
            <a:spAutoFit/>
          </a:bodyPr>
          <a:lstStyle/>
          <a:p>
            <a:pPr algn="l">
              <a:lnSpc>
                <a:spcPct val="103000"/>
              </a:lnSpc>
            </a:pPr>
            <a:r>
              <a:rPr sz="1350" b="1" i="0">
                <a:solidFill>
                  <a:srgbClr val="7A4A3F"/>
                </a:solidFill>
                <a:latin typeface="Calibri"/>
              </a:rPr>
              <a:t>What this project adds: </a:t>
            </a:r>
            <a:r>
              <a:rPr sz="1350" b="0" i="0">
                <a:solidFill>
                  <a:srgbClr val="33302E"/>
                </a:solidFill>
                <a:latin typeface="Calibri"/>
              </a:rPr>
              <a:t>a ranking of the departures from that gradient across all authorities, and a test of what distinguishes them.</a:t>
            </a:r>
          </a:p>
        </p:txBody>
      </p:sp>
      <p:sp>
        <p:nvSpPr>
          <p:cNvPr id="14" name="Rounded Rectangle 13"/>
          <p:cNvSpPr/>
          <p:nvPr/>
        </p:nvSpPr>
        <p:spPr>
          <a:xfrm>
            <a:off x="7818120" y="1234440"/>
            <a:ext cx="3803904" cy="192024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092440" y="1426464"/>
            <a:ext cx="3255264" cy="292608"/>
          </a:xfrm>
          <a:prstGeom prst="rect">
            <a:avLst/>
          </a:prstGeom>
          <a:noFill/>
        </p:spPr>
        <p:txBody>
          <a:bodyPr wrap="square" lIns="0" rIns="0" tIns="0" bIns="0">
            <a:spAutoFit/>
          </a:bodyPr>
          <a:lstStyle/>
          <a:p>
            <a:pPr algn="l"/>
            <a:r>
              <a:rPr sz="1600" b="1" i="0">
                <a:solidFill>
                  <a:srgbClr val="7A4A3F"/>
                </a:solidFill>
                <a:latin typeface="Calibri"/>
              </a:rPr>
              <a:t>Who the answer is for</a:t>
            </a:r>
          </a:p>
        </p:txBody>
      </p:sp>
      <p:sp>
        <p:nvSpPr>
          <p:cNvPr id="16" name="TextBox 15"/>
          <p:cNvSpPr txBox="1"/>
          <p:nvPr/>
        </p:nvSpPr>
        <p:spPr>
          <a:xfrm>
            <a:off x="8092440" y="1783080"/>
            <a:ext cx="3255264" cy="1280160"/>
          </a:xfrm>
          <a:prstGeom prst="rect">
            <a:avLst/>
          </a:prstGeom>
          <a:noFill/>
        </p:spPr>
        <p:txBody>
          <a:bodyPr wrap="square" lIns="0" rIns="0" tIns="0" bIns="0">
            <a:spAutoFit/>
          </a:bodyPr>
          <a:lstStyle/>
          <a:p>
            <a:pPr algn="l" marL="237744" indent="-237744">
              <a:lnSpc>
                <a:spcPct val="102000"/>
              </a:lnSpc>
              <a:spcAft>
                <a:spcPts val="500"/>
              </a:spcAft>
            </a:pPr>
            <a:r>
              <a:rPr sz="1350" b="1" i="0">
                <a:solidFill>
                  <a:srgbClr val="B85042"/>
                </a:solidFill>
                <a:latin typeface="Calibri"/>
              </a:rPr>
              <a:t>•   </a:t>
            </a:r>
            <a:r>
              <a:rPr sz="1350" b="0" i="0">
                <a:solidFill>
                  <a:srgbClr val="33302E"/>
                </a:solidFill>
                <a:latin typeface="Calibri"/>
              </a:rPr>
              <a:t>the Ministry of Education and RAMA</a:t>
            </a:r>
          </a:p>
          <a:p>
            <a:pPr algn="l" marL="237744" indent="-237744">
              <a:lnSpc>
                <a:spcPct val="102000"/>
              </a:lnSpc>
              <a:spcAft>
                <a:spcPts val="500"/>
              </a:spcAft>
            </a:pPr>
            <a:r>
              <a:rPr sz="1350" b="1" i="0">
                <a:solidFill>
                  <a:srgbClr val="B85042"/>
                </a:solidFill>
                <a:latin typeface="Calibri"/>
              </a:rPr>
              <a:t>•   </a:t>
            </a:r>
            <a:r>
              <a:rPr sz="1350" b="0" i="0">
                <a:solidFill>
                  <a:srgbClr val="33302E"/>
                </a:solidFill>
                <a:latin typeface="Calibri"/>
              </a:rPr>
              <a:t>heads of local authorities</a:t>
            </a:r>
          </a:p>
          <a:p>
            <a:pPr algn="l" marL="237744" indent="-237744">
              <a:lnSpc>
                <a:spcPct val="102000"/>
              </a:lnSpc>
              <a:spcAft>
                <a:spcPts val="500"/>
              </a:spcAft>
            </a:pPr>
            <a:r>
              <a:rPr sz="1350" b="1" i="0">
                <a:solidFill>
                  <a:srgbClr val="B85042"/>
                </a:solidFill>
                <a:latin typeface="Calibri"/>
              </a:rPr>
              <a:t>•   </a:t>
            </a:r>
            <a:r>
              <a:rPr sz="1350" b="0" i="0">
                <a:solidFill>
                  <a:srgbClr val="33302E"/>
                </a:solidFill>
                <a:latin typeface="Calibri"/>
              </a:rPr>
              <a:t>anyone setting policy on educational gaps</a:t>
            </a:r>
          </a:p>
        </p:txBody>
      </p:sp>
      <p:sp>
        <p:nvSpPr>
          <p:cNvPr id="17" name="TextBox 16"/>
          <p:cNvSpPr txBox="1"/>
          <p:nvPr/>
        </p:nvSpPr>
        <p:spPr>
          <a:xfrm>
            <a:off x="8092440" y="3429000"/>
            <a:ext cx="3566160" cy="536448"/>
          </a:xfrm>
          <a:prstGeom prst="rect">
            <a:avLst/>
          </a:prstGeom>
          <a:noFill/>
        </p:spPr>
        <p:txBody>
          <a:bodyPr wrap="square" lIns="0" rIns="0" tIns="0" bIns="0">
            <a:spAutoFit/>
          </a:bodyPr>
          <a:lstStyle/>
          <a:p>
            <a:pPr algn="l"/>
            <a:r>
              <a:rPr sz="3400" b="1" i="0">
                <a:solidFill>
                  <a:srgbClr val="B85042"/>
                </a:solidFill>
                <a:latin typeface="Cambria"/>
              </a:rPr>
              <a:t>243</a:t>
            </a:r>
          </a:p>
        </p:txBody>
      </p:sp>
      <p:sp>
        <p:nvSpPr>
          <p:cNvPr id="18" name="TextBox 17"/>
          <p:cNvSpPr txBox="1"/>
          <p:nvPr/>
        </p:nvSpPr>
        <p:spPr>
          <a:xfrm>
            <a:off x="8092440" y="3965448"/>
            <a:ext cx="3566160"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local authorities in the merged table, from 1,749 authority by year by grade by subject rows</a:t>
            </a:r>
          </a:p>
        </p:txBody>
      </p:sp>
      <p:sp>
        <p:nvSpPr>
          <p:cNvPr id="19" name="TextBox 18"/>
          <p:cNvSpPr txBox="1"/>
          <p:nvPr/>
        </p:nvSpPr>
        <p:spPr>
          <a:xfrm>
            <a:off x="8092440" y="4800600"/>
            <a:ext cx="3566160" cy="445008"/>
          </a:xfrm>
          <a:prstGeom prst="rect">
            <a:avLst/>
          </a:prstGeom>
          <a:noFill/>
        </p:spPr>
        <p:txBody>
          <a:bodyPr wrap="square" lIns="0" rIns="0" tIns="0" bIns="0">
            <a:spAutoFit/>
          </a:bodyPr>
          <a:lstStyle/>
          <a:p>
            <a:pPr algn="l"/>
            <a:r>
              <a:rPr sz="2800" b="1" i="0">
                <a:solidFill>
                  <a:srgbClr val="50808E"/>
                </a:solidFill>
                <a:latin typeface="Cambria"/>
              </a:rPr>
              <a:t>2 sources</a:t>
            </a:r>
          </a:p>
        </p:txBody>
      </p:sp>
      <p:sp>
        <p:nvSpPr>
          <p:cNvPr id="20" name="TextBox 19"/>
          <p:cNvSpPr txBox="1"/>
          <p:nvPr/>
        </p:nvSpPr>
        <p:spPr>
          <a:xfrm>
            <a:off x="8092440" y="5245608"/>
            <a:ext cx="3566160"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Ministry of Education test scores and the CBS socio-economic index, joined on a key we had to build</a:t>
            </a:r>
          </a:p>
        </p:txBody>
      </p:sp>
      <p:sp>
        <p:nvSpPr>
          <p:cNvPr id="21" name="TextBox 20"/>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22" name="TextBox 21"/>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The question</a:t>
            </a:r>
          </a:p>
        </p:txBody>
      </p:sp>
      <p:sp>
        <p:nvSpPr>
          <p:cNvPr id="3" name="Rounded Rectangle 2"/>
          <p:cNvSpPr/>
          <p:nvPr/>
        </p:nvSpPr>
        <p:spPr>
          <a:xfrm>
            <a:off x="566928" y="1188720"/>
            <a:ext cx="11055096" cy="160020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1389888"/>
            <a:ext cx="10415016" cy="1234440"/>
          </a:xfrm>
          <a:prstGeom prst="rect">
            <a:avLst/>
          </a:prstGeom>
          <a:noFill/>
        </p:spPr>
        <p:txBody>
          <a:bodyPr wrap="square" lIns="0" rIns="0" tIns="0" bIns="0">
            <a:spAutoFit/>
          </a:bodyPr>
          <a:lstStyle/>
          <a:p>
            <a:pPr algn="l">
              <a:lnSpc>
                <a:spcPct val="112000"/>
              </a:lnSpc>
            </a:pPr>
            <a:r>
              <a:rPr sz="2300" b="1" i="0">
                <a:solidFill>
                  <a:srgbClr val="7A4A3F"/>
                </a:solidFill>
                <a:latin typeface="Cambria"/>
              </a:rPr>
              <a:t>Which local authorities in Israel score higher or lower on national tests than their socio-economic level would predict, and what sets those authorities apart?</a:t>
            </a:r>
          </a:p>
        </p:txBody>
      </p:sp>
      <p:sp>
        <p:nvSpPr>
          <p:cNvPr id="5" name="Rounded Rectangle 4"/>
          <p:cNvSpPr/>
          <p:nvPr/>
        </p:nvSpPr>
        <p:spPr>
          <a:xfrm>
            <a:off x="566928" y="2926080"/>
            <a:ext cx="5376672" cy="224028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1247" y="3127248"/>
            <a:ext cx="4828032" cy="256032"/>
          </a:xfrm>
          <a:prstGeom prst="rect">
            <a:avLst/>
          </a:prstGeom>
          <a:noFill/>
        </p:spPr>
        <p:txBody>
          <a:bodyPr wrap="square" lIns="0" rIns="0" tIns="0" bIns="0">
            <a:spAutoFit/>
          </a:bodyPr>
          <a:lstStyle/>
          <a:p>
            <a:pPr algn="l"/>
            <a:r>
              <a:rPr sz="1050" b="1" i="0">
                <a:solidFill>
                  <a:srgbClr val="B85042"/>
                </a:solidFill>
                <a:latin typeface="Calibri"/>
              </a:rPr>
              <a:t>SUPPORTING QUESTION</a:t>
            </a:r>
          </a:p>
        </p:txBody>
      </p:sp>
      <p:sp>
        <p:nvSpPr>
          <p:cNvPr id="7" name="TextBox 6"/>
          <p:cNvSpPr txBox="1"/>
          <p:nvPr/>
        </p:nvSpPr>
        <p:spPr>
          <a:xfrm>
            <a:off x="841247" y="3429000"/>
            <a:ext cx="4828032" cy="777240"/>
          </a:xfrm>
          <a:prstGeom prst="rect">
            <a:avLst/>
          </a:prstGeom>
          <a:noFill/>
        </p:spPr>
        <p:txBody>
          <a:bodyPr wrap="square" lIns="0" rIns="0" tIns="0" bIns="0">
            <a:spAutoFit/>
          </a:bodyPr>
          <a:lstStyle/>
          <a:p>
            <a:pPr algn="l">
              <a:lnSpc>
                <a:spcPct val="105000"/>
              </a:lnSpc>
            </a:pPr>
            <a:r>
              <a:rPr sz="1600" b="1" i="0">
                <a:solidFill>
                  <a:srgbClr val="33302E"/>
                </a:solidFill>
                <a:latin typeface="Calibri"/>
              </a:rPr>
              <a:t>How closely does the socio-economic index track test scores in the first place?</a:t>
            </a:r>
          </a:p>
        </p:txBody>
      </p:sp>
      <p:sp>
        <p:nvSpPr>
          <p:cNvPr id="8" name="TextBox 7"/>
          <p:cNvSpPr txBox="1"/>
          <p:nvPr/>
        </p:nvSpPr>
        <p:spPr>
          <a:xfrm>
            <a:off x="841247" y="4251960"/>
            <a:ext cx="4828032" cy="777240"/>
          </a:xfrm>
          <a:prstGeom prst="rect">
            <a:avLst/>
          </a:prstGeom>
          <a:noFill/>
        </p:spPr>
        <p:txBody>
          <a:bodyPr wrap="square" lIns="0" rIns="0" tIns="0" bIns="0">
            <a:spAutoFit/>
          </a:bodyPr>
          <a:lstStyle/>
          <a:p>
            <a:pPr algn="l">
              <a:lnSpc>
                <a:spcPct val="105000"/>
              </a:lnSpc>
            </a:pPr>
            <a:r>
              <a:rPr sz="1350" b="0" i="0">
                <a:solidFill>
                  <a:srgbClr val="8A7F76"/>
                </a:solidFill>
                <a:latin typeface="Calibri"/>
              </a:rPr>
              <a:t>That relationship is the baseline the deviations are measured against, so it has to be fitted well before any authority can be called an over- or under-performer.</a:t>
            </a:r>
          </a:p>
        </p:txBody>
      </p:sp>
      <p:sp>
        <p:nvSpPr>
          <p:cNvPr id="9" name="Rounded Rectangle 8"/>
          <p:cNvSpPr/>
          <p:nvPr/>
        </p:nvSpPr>
        <p:spPr>
          <a:xfrm>
            <a:off x="6245352" y="2926080"/>
            <a:ext cx="5376672" cy="224028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19672" y="3127248"/>
            <a:ext cx="4828032" cy="256032"/>
          </a:xfrm>
          <a:prstGeom prst="rect">
            <a:avLst/>
          </a:prstGeom>
          <a:noFill/>
        </p:spPr>
        <p:txBody>
          <a:bodyPr wrap="square" lIns="0" rIns="0" tIns="0" bIns="0">
            <a:spAutoFit/>
          </a:bodyPr>
          <a:lstStyle/>
          <a:p>
            <a:pPr algn="l"/>
            <a:r>
              <a:rPr sz="1050" b="1" i="0">
                <a:solidFill>
                  <a:srgbClr val="B85042"/>
                </a:solidFill>
                <a:latin typeface="Calibri"/>
              </a:rPr>
              <a:t>SUPPORTING QUESTION</a:t>
            </a:r>
          </a:p>
        </p:txBody>
      </p:sp>
      <p:sp>
        <p:nvSpPr>
          <p:cNvPr id="11" name="TextBox 10"/>
          <p:cNvSpPr txBox="1"/>
          <p:nvPr/>
        </p:nvSpPr>
        <p:spPr>
          <a:xfrm>
            <a:off x="6519672" y="3429000"/>
            <a:ext cx="4828032" cy="777240"/>
          </a:xfrm>
          <a:prstGeom prst="rect">
            <a:avLst/>
          </a:prstGeom>
          <a:noFill/>
        </p:spPr>
        <p:txBody>
          <a:bodyPr wrap="square" lIns="0" rIns="0" tIns="0" bIns="0">
            <a:spAutoFit/>
          </a:bodyPr>
          <a:lstStyle/>
          <a:p>
            <a:pPr algn="l">
              <a:lnSpc>
                <a:spcPct val="105000"/>
              </a:lnSpc>
            </a:pPr>
            <a:r>
              <a:rPr sz="1600" b="1" i="0">
                <a:solidFill>
                  <a:srgbClr val="33302E"/>
                </a:solidFill>
                <a:latin typeface="Calibri"/>
              </a:rPr>
              <a:t>Does grouping authorities by their achievement profiles reproduce the official CBS clusters?</a:t>
            </a:r>
          </a:p>
        </p:txBody>
      </p:sp>
      <p:sp>
        <p:nvSpPr>
          <p:cNvPr id="12" name="TextBox 11"/>
          <p:cNvSpPr txBox="1"/>
          <p:nvPr/>
        </p:nvSpPr>
        <p:spPr>
          <a:xfrm>
            <a:off x="6519672" y="4251960"/>
            <a:ext cx="4828032" cy="777240"/>
          </a:xfrm>
          <a:prstGeom prst="rect">
            <a:avLst/>
          </a:prstGeom>
          <a:noFill/>
        </p:spPr>
        <p:txBody>
          <a:bodyPr wrap="square" lIns="0" rIns="0" tIns="0" bIns="0">
            <a:spAutoFit/>
          </a:bodyPr>
          <a:lstStyle/>
          <a:p>
            <a:pPr algn="l">
              <a:lnSpc>
                <a:spcPct val="105000"/>
              </a:lnSpc>
            </a:pPr>
            <a:r>
              <a:rPr sz="1350" b="0" i="0">
                <a:solidFill>
                  <a:srgbClr val="8A7F76"/>
                </a:solidFill>
                <a:latin typeface="Calibri"/>
              </a:rPr>
              <a:t>If the two systems were interchangeable, the official 1 to 10 clusters would already tell us everything the test results do.</a:t>
            </a:r>
          </a:p>
        </p:txBody>
      </p:sp>
      <p:sp>
        <p:nvSpPr>
          <p:cNvPr id="13" name="TextBox 12"/>
          <p:cNvSpPr txBox="1"/>
          <p:nvPr/>
        </p:nvSpPr>
        <p:spPr>
          <a:xfrm>
            <a:off x="566928" y="5440680"/>
            <a:ext cx="11055096" cy="548640"/>
          </a:xfrm>
          <a:prstGeom prst="rect">
            <a:avLst/>
          </a:prstGeom>
          <a:noFill/>
        </p:spPr>
        <p:txBody>
          <a:bodyPr wrap="square" lIns="0" rIns="0" tIns="0" bIns="0">
            <a:spAutoFit/>
          </a:bodyPr>
          <a:lstStyle/>
          <a:p>
            <a:pPr algn="l"/>
            <a:r>
              <a:rPr sz="1400" b="1" i="0">
                <a:solidFill>
                  <a:srgbClr val="B85042"/>
                </a:solidFill>
                <a:latin typeface="Calibri"/>
              </a:rPr>
              <a:t>Stated as association throughout. </a:t>
            </a:r>
            <a:r>
              <a:rPr sz="1400" b="0" i="0">
                <a:solidFill>
                  <a:srgbClr val="33302E"/>
                </a:solidFill>
                <a:latin typeface="Calibri"/>
              </a:rPr>
              <a:t>The data are observational and cross-sectional, so nothing in this design can support a claim that socio-economic standing produces a score.</a:t>
            </a:r>
          </a:p>
        </p:txBody>
      </p:sp>
      <p:sp>
        <p:nvSpPr>
          <p:cNvPr id="14" name="TextBox 13"/>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5" name="TextBox 14"/>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Two official sources, and the work to join them</a:t>
            </a:r>
          </a:p>
        </p:txBody>
      </p:sp>
      <p:sp>
        <p:nvSpPr>
          <p:cNvPr id="3" name="Rounded Rectangle 2"/>
          <p:cNvSpPr/>
          <p:nvPr/>
        </p:nvSpPr>
        <p:spPr>
          <a:xfrm>
            <a:off x="566928" y="1115568"/>
            <a:ext cx="5376672" cy="137160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7" y="1280160"/>
            <a:ext cx="4828032" cy="274320"/>
          </a:xfrm>
          <a:prstGeom prst="rect">
            <a:avLst/>
          </a:prstGeom>
          <a:noFill/>
        </p:spPr>
        <p:txBody>
          <a:bodyPr wrap="square" lIns="0" rIns="0" tIns="0" bIns="0">
            <a:spAutoFit/>
          </a:bodyPr>
          <a:lstStyle/>
          <a:p>
            <a:pPr algn="l"/>
            <a:r>
              <a:rPr sz="1500" b="1" i="0">
                <a:solidFill>
                  <a:srgbClr val="7A4A3F"/>
                </a:solidFill>
                <a:latin typeface="Calibri"/>
              </a:rPr>
              <a:t>Ministry of Education: Meitzav</a:t>
            </a:r>
          </a:p>
        </p:txBody>
      </p:sp>
      <p:sp>
        <p:nvSpPr>
          <p:cNvPr id="5" name="TextBox 4"/>
          <p:cNvSpPr txBox="1"/>
          <p:nvPr/>
        </p:nvSpPr>
        <p:spPr>
          <a:xfrm>
            <a:off x="841247" y="1591056"/>
            <a:ext cx="4828032" cy="822960"/>
          </a:xfrm>
          <a:prstGeom prst="rect">
            <a:avLst/>
          </a:prstGeom>
          <a:noFill/>
        </p:spPr>
        <p:txBody>
          <a:bodyPr wrap="square" lIns="0" rIns="0" tIns="0" bIns="0">
            <a:spAutoFit/>
          </a:bodyPr>
          <a:lstStyle/>
          <a:p>
            <a:pPr algn="l">
              <a:lnSpc>
                <a:spcPct val="103000"/>
              </a:lnSpc>
            </a:pPr>
            <a:r>
              <a:rPr sz="1250" b="0" i="0">
                <a:solidFill>
                  <a:srgbClr val="33302E"/>
                </a:solidFill>
                <a:latin typeface="Calibri"/>
              </a:rPr>
              <a:t>National assessment in grades 5 and 8, in Arabic or Hebrew as a first language, English, Mathematics and Science. One row per authority, year, sector, grade and subject: 3,067 rows, 251 authorities, 2015 to 2019.</a:t>
            </a:r>
          </a:p>
        </p:txBody>
      </p:sp>
      <p:sp>
        <p:nvSpPr>
          <p:cNvPr id="6" name="Rounded Rectangle 5"/>
          <p:cNvSpPr/>
          <p:nvPr/>
        </p:nvSpPr>
        <p:spPr>
          <a:xfrm>
            <a:off x="6245352" y="1115568"/>
            <a:ext cx="5376672" cy="137160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19672" y="1280160"/>
            <a:ext cx="4828032" cy="274320"/>
          </a:xfrm>
          <a:prstGeom prst="rect">
            <a:avLst/>
          </a:prstGeom>
          <a:noFill/>
        </p:spPr>
        <p:txBody>
          <a:bodyPr wrap="square" lIns="0" rIns="0" tIns="0" bIns="0">
            <a:spAutoFit/>
          </a:bodyPr>
          <a:lstStyle/>
          <a:p>
            <a:pPr algn="l"/>
            <a:r>
              <a:rPr sz="1500" b="1" i="0">
                <a:solidFill>
                  <a:srgbClr val="7A4A3F"/>
                </a:solidFill>
                <a:latin typeface="Calibri"/>
              </a:rPr>
              <a:t>CBS: Socio-Economic Index, 2017</a:t>
            </a:r>
          </a:p>
        </p:txBody>
      </p:sp>
      <p:sp>
        <p:nvSpPr>
          <p:cNvPr id="8" name="TextBox 7"/>
          <p:cNvSpPr txBox="1"/>
          <p:nvPr/>
        </p:nvSpPr>
        <p:spPr>
          <a:xfrm>
            <a:off x="6519672" y="1591056"/>
            <a:ext cx="4828032" cy="822960"/>
          </a:xfrm>
          <a:prstGeom prst="rect">
            <a:avLst/>
          </a:prstGeom>
          <a:noFill/>
        </p:spPr>
        <p:txBody>
          <a:bodyPr wrap="square" lIns="0" rIns="0" tIns="0" bIns="0">
            <a:spAutoFit/>
          </a:bodyPr>
          <a:lstStyle/>
          <a:p>
            <a:pPr algn="l">
              <a:lnSpc>
                <a:spcPct val="103000"/>
              </a:lnSpc>
            </a:pPr>
            <a:r>
              <a:rPr sz="1250" b="0" i="0">
                <a:solidFill>
                  <a:srgbClr val="33302E"/>
                </a:solidFill>
                <a:latin typeface="Calibri"/>
              </a:rPr>
              <a:t>All 255 local authorities ranked by factor analysis of 14 variables covering demography, schooling, employment and standard of living, published as a continuous value and as ten clusters.</a:t>
            </a:r>
          </a:p>
        </p:txBody>
      </p:sp>
      <p:sp>
        <p:nvSpPr>
          <p:cNvPr id="9" name="TextBox 8"/>
          <p:cNvSpPr txBox="1"/>
          <p:nvPr/>
        </p:nvSpPr>
        <p:spPr>
          <a:xfrm>
            <a:off x="566928" y="2670048"/>
            <a:ext cx="11055096" cy="274320"/>
          </a:xfrm>
          <a:prstGeom prst="rect">
            <a:avLst/>
          </a:prstGeom>
          <a:noFill/>
        </p:spPr>
        <p:txBody>
          <a:bodyPr wrap="square" lIns="0" rIns="0" tIns="0" bIns="0">
            <a:spAutoFit/>
          </a:bodyPr>
          <a:lstStyle/>
          <a:p>
            <a:pPr algn="l"/>
            <a:r>
              <a:rPr sz="1600" b="1" i="0">
                <a:solidFill>
                  <a:srgbClr val="B85042"/>
                </a:solidFill>
                <a:latin typeface="Calibri"/>
              </a:rPr>
              <a:t>Three things the raw files forced on us</a:t>
            </a:r>
          </a:p>
        </p:txBody>
      </p:sp>
      <p:sp>
        <p:nvSpPr>
          <p:cNvPr id="10" name="Rounded Rectangle 9"/>
          <p:cNvSpPr/>
          <p:nvPr/>
        </p:nvSpPr>
        <p:spPr>
          <a:xfrm>
            <a:off x="566928" y="2980944"/>
            <a:ext cx="11055096" cy="896112"/>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04672" y="3163824"/>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1</a:t>
            </a:r>
          </a:p>
        </p:txBody>
      </p:sp>
      <p:sp>
        <p:nvSpPr>
          <p:cNvPr id="12" name="TextBox 11"/>
          <p:cNvSpPr txBox="1"/>
          <p:nvPr/>
        </p:nvSpPr>
        <p:spPr>
          <a:xfrm>
            <a:off x="1225295" y="3200400"/>
            <a:ext cx="2103120" cy="45720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Two code systems</a:t>
            </a:r>
          </a:p>
        </p:txBody>
      </p:sp>
      <p:sp>
        <p:nvSpPr>
          <p:cNvPr id="13" name="TextBox 12"/>
          <p:cNvSpPr txBox="1"/>
          <p:nvPr/>
        </p:nvSpPr>
        <p:spPr>
          <a:xfrm>
            <a:off x="3493008" y="3127248"/>
            <a:ext cx="7854696" cy="658368"/>
          </a:xfrm>
          <a:prstGeom prst="rect">
            <a:avLst/>
          </a:prstGeom>
          <a:noFill/>
        </p:spPr>
        <p:txBody>
          <a:bodyPr wrap="square" lIns="0" rIns="0" tIns="0" bIns="0">
            <a:spAutoFit/>
          </a:bodyPr>
          <a:lstStyle/>
          <a:p>
            <a:pPr algn="l">
              <a:lnSpc>
                <a:spcPct val="103000"/>
              </a:lnSpc>
            </a:pPr>
            <a:r>
              <a:rPr sz="1300" b="0" i="0">
                <a:solidFill>
                  <a:srgbClr val="33302E"/>
                </a:solidFill>
                <a:latin typeface="Calibri"/>
              </a:rPr>
              <a:t>The files number authorities differently. For cities and local councils the education code is the CBS code with one extra digit, so rashut // 10 recovers it; a regional council's code is its council number × 100,000; four merged cities were mapped by hand. All 250 matched, verified by name.</a:t>
            </a:r>
          </a:p>
        </p:txBody>
      </p:sp>
      <p:sp>
        <p:nvSpPr>
          <p:cNvPr id="14" name="Rounded Rectangle 13"/>
          <p:cNvSpPr/>
          <p:nvPr/>
        </p:nvSpPr>
        <p:spPr>
          <a:xfrm>
            <a:off x="566928" y="3950208"/>
            <a:ext cx="11055096" cy="896112"/>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04672" y="4133088"/>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2</a:t>
            </a:r>
          </a:p>
        </p:txBody>
      </p:sp>
      <p:sp>
        <p:nvSpPr>
          <p:cNvPr id="16" name="TextBox 15"/>
          <p:cNvSpPr txBox="1"/>
          <p:nvPr/>
        </p:nvSpPr>
        <p:spPr>
          <a:xfrm>
            <a:off x="1225295" y="4169664"/>
            <a:ext cx="2103120" cy="45720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The same pupils twice</a:t>
            </a:r>
          </a:p>
        </p:txBody>
      </p:sp>
      <p:sp>
        <p:nvSpPr>
          <p:cNvPr id="17" name="TextBox 16"/>
          <p:cNvSpPr txBox="1"/>
          <p:nvPr/>
        </p:nvSpPr>
        <p:spPr>
          <a:xfrm>
            <a:off x="3493008" y="4096512"/>
            <a:ext cx="7854696" cy="658368"/>
          </a:xfrm>
          <a:prstGeom prst="rect">
            <a:avLst/>
          </a:prstGeom>
          <a:noFill/>
        </p:spPr>
        <p:txBody>
          <a:bodyPr wrap="square" lIns="0" rIns="0" tIns="0" bIns="0">
            <a:spAutoFit/>
          </a:bodyPr>
          <a:lstStyle/>
          <a:p>
            <a:pPr algn="l">
              <a:lnSpc>
                <a:spcPct val="103000"/>
              </a:lnSpc>
            </a:pPr>
            <a:r>
              <a:rPr sz="1300" b="0" i="0">
                <a:solidFill>
                  <a:srgbClr val="33302E"/>
                </a:solidFill>
                <a:latin typeface="Calibri"/>
              </a:rPr>
              <a:t>norm_id is the sector, and value 1 is the two sectors combined, which exists only for the 19 mixed authorities. Haifa grade 5 English in 2016: 859 = 768 + 91. We keep the combined row where it exists and the single sector row everywhere else.</a:t>
            </a:r>
          </a:p>
        </p:txBody>
      </p:sp>
      <p:sp>
        <p:nvSpPr>
          <p:cNvPr id="18" name="Rounded Rectangle 17"/>
          <p:cNvSpPr/>
          <p:nvPr/>
        </p:nvSpPr>
        <p:spPr>
          <a:xfrm>
            <a:off x="566928" y="4919472"/>
            <a:ext cx="11055096" cy="896112"/>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5102352"/>
            <a:ext cx="310896" cy="310896"/>
          </a:xfrm>
          <a:prstGeom prst="ellips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mbria"/>
              </a:rPr>
              <a:t>3</a:t>
            </a:r>
          </a:p>
        </p:txBody>
      </p:sp>
      <p:sp>
        <p:nvSpPr>
          <p:cNvPr id="20" name="TextBox 19"/>
          <p:cNvSpPr txBox="1"/>
          <p:nvPr/>
        </p:nvSpPr>
        <p:spPr>
          <a:xfrm>
            <a:off x="1225295" y="5138928"/>
            <a:ext cx="2103120" cy="45720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Years that miss the index</a:t>
            </a:r>
          </a:p>
        </p:txBody>
      </p:sp>
      <p:sp>
        <p:nvSpPr>
          <p:cNvPr id="21" name="TextBox 20"/>
          <p:cNvSpPr txBox="1"/>
          <p:nvPr/>
        </p:nvSpPr>
        <p:spPr>
          <a:xfrm>
            <a:off x="3493008" y="5065776"/>
            <a:ext cx="7854696" cy="658368"/>
          </a:xfrm>
          <a:prstGeom prst="rect">
            <a:avLst/>
          </a:prstGeom>
          <a:noFill/>
        </p:spPr>
        <p:txBody>
          <a:bodyPr wrap="square" lIns="0" rIns="0" tIns="0" bIns="0">
            <a:spAutoFit/>
          </a:bodyPr>
          <a:lstStyle/>
          <a:p>
            <a:pPr algn="l">
              <a:lnSpc>
                <a:spcPct val="103000"/>
              </a:lnSpc>
            </a:pPr>
            <a:r>
              <a:rPr sz="1300" b="0" i="0">
                <a:solidFill>
                  <a:srgbClr val="33302E"/>
                </a:solidFill>
                <a:latin typeface="Calibri"/>
              </a:rPr>
              <a:t>The index edition is 2017, so we keep 2016 to 2018 and drop 2015 and 2019 rather than compare scores to an index measured years off. Scores still drift a median of 13.5 points across the three years, so year stays in the models as a variable.</a:t>
            </a:r>
          </a:p>
        </p:txBody>
      </p:sp>
      <p:sp>
        <p:nvSpPr>
          <p:cNvPr id="22" name="TextBox 21"/>
          <p:cNvSpPr txBox="1"/>
          <p:nvPr/>
        </p:nvSpPr>
        <p:spPr>
          <a:xfrm>
            <a:off x="566928" y="5961888"/>
            <a:ext cx="11055096" cy="274320"/>
          </a:xfrm>
          <a:prstGeom prst="rect">
            <a:avLst/>
          </a:prstGeom>
          <a:noFill/>
        </p:spPr>
        <p:txBody>
          <a:bodyPr wrap="square" lIns="0" rIns="0" tIns="0" bIns="0">
            <a:spAutoFit/>
          </a:bodyPr>
          <a:lstStyle/>
          <a:p>
            <a:pPr algn="l"/>
            <a:r>
              <a:rPr sz="1250" b="1" i="0">
                <a:solidFill>
                  <a:srgbClr val="33302E"/>
                </a:solidFill>
                <a:latin typeface="Calibri"/>
              </a:rPr>
              <a:t>3,067 rows to 1,749   ·   251 authorities to 243   ·   </a:t>
            </a:r>
            <a:r>
              <a:rPr sz="1250" b="0" i="0">
                <a:solidFill>
                  <a:srgbClr val="8A7F76"/>
                </a:solidFill>
                <a:latin typeface="Calibri"/>
              </a:rPr>
              <a:t>44 rows have no score, almost all of them groups of under 30 pupils the Ministry suppresses as too small to publish</a:t>
            </a:r>
          </a:p>
        </p:txBody>
      </p:sp>
      <p:sp>
        <p:nvSpPr>
          <p:cNvPr id="23" name="TextBox 22"/>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24" name="TextBox 23"/>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How the analysis is built</a:t>
            </a:r>
          </a:p>
        </p:txBody>
      </p:sp>
      <p:sp>
        <p:nvSpPr>
          <p:cNvPr id="3" name="Rounded Rectangle 2"/>
          <p:cNvSpPr/>
          <p:nvPr/>
        </p:nvSpPr>
        <p:spPr>
          <a:xfrm>
            <a:off x="566928" y="1188720"/>
            <a:ext cx="2057400"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325880"/>
            <a:ext cx="1728216" cy="640080"/>
          </a:xfrm>
          <a:prstGeom prst="rect">
            <a:avLst/>
          </a:prstGeom>
          <a:noFill/>
        </p:spPr>
        <p:txBody>
          <a:bodyPr wrap="square" lIns="0" rIns="0" tIns="0" bIns="0">
            <a:spAutoFit/>
          </a:bodyPr>
          <a:lstStyle/>
          <a:p>
            <a:pPr algn="l">
              <a:lnSpc>
                <a:spcPct val="102000"/>
              </a:lnSpc>
            </a:pPr>
            <a:r>
              <a:rPr sz="1350" b="1" i="0">
                <a:solidFill>
                  <a:srgbClr val="7A4A3F"/>
                </a:solidFill>
                <a:latin typeface="Calibri"/>
              </a:rPr>
              <a:t>Split by authority</a:t>
            </a:r>
          </a:p>
        </p:txBody>
      </p:sp>
      <p:sp>
        <p:nvSpPr>
          <p:cNvPr id="5" name="TextBox 4"/>
          <p:cNvSpPr txBox="1"/>
          <p:nvPr/>
        </p:nvSpPr>
        <p:spPr>
          <a:xfrm>
            <a:off x="731520" y="1956816"/>
            <a:ext cx="1728216" cy="594360"/>
          </a:xfrm>
          <a:prstGeom prst="rect">
            <a:avLst/>
          </a:prstGeom>
          <a:noFill/>
        </p:spPr>
        <p:txBody>
          <a:bodyPr wrap="square" lIns="0" rIns="0" tIns="0" bIns="0">
            <a:spAutoFit/>
          </a:bodyPr>
          <a:lstStyle/>
          <a:p>
            <a:pPr algn="l">
              <a:lnSpc>
                <a:spcPct val="102000"/>
              </a:lnSpc>
            </a:pPr>
            <a:r>
              <a:rPr sz="1050" b="0" i="0">
                <a:solidFill>
                  <a:srgbClr val="8A7F76"/>
                </a:solidFill>
                <a:latin typeface="Calibri"/>
              </a:rPr>
              <a:t>every row of an authority goes to one set, stratified by cluster</a:t>
            </a:r>
          </a:p>
        </p:txBody>
      </p:sp>
      <p:sp>
        <p:nvSpPr>
          <p:cNvPr id="6" name="Isosceles Triangle 5"/>
          <p:cNvSpPr/>
          <p:nvPr/>
        </p:nvSpPr>
        <p:spPr>
          <a:xfrm rot="5400000">
            <a:off x="2665476" y="1801368"/>
            <a:ext cx="109728" cy="182880"/>
          </a:xfrm>
          <a:prstGeom prst="triangl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16352" y="1188720"/>
            <a:ext cx="2057400"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980944" y="1325880"/>
            <a:ext cx="1728216" cy="640080"/>
          </a:xfrm>
          <a:prstGeom prst="rect">
            <a:avLst/>
          </a:prstGeom>
          <a:noFill/>
        </p:spPr>
        <p:txBody>
          <a:bodyPr wrap="square" lIns="0" rIns="0" tIns="0" bIns="0">
            <a:spAutoFit/>
          </a:bodyPr>
          <a:lstStyle/>
          <a:p>
            <a:pPr algn="l">
              <a:lnSpc>
                <a:spcPct val="102000"/>
              </a:lnSpc>
            </a:pPr>
            <a:r>
              <a:rPr sz="1350" b="1" i="0">
                <a:solidFill>
                  <a:srgbClr val="7A4A3F"/>
                </a:solidFill>
                <a:latin typeface="Calibri"/>
              </a:rPr>
              <a:t>Baselines</a:t>
            </a:r>
          </a:p>
        </p:txBody>
      </p:sp>
      <p:sp>
        <p:nvSpPr>
          <p:cNvPr id="9" name="TextBox 8"/>
          <p:cNvSpPr txBox="1"/>
          <p:nvPr/>
        </p:nvSpPr>
        <p:spPr>
          <a:xfrm>
            <a:off x="2980944" y="1956816"/>
            <a:ext cx="1728216" cy="594360"/>
          </a:xfrm>
          <a:prstGeom prst="rect">
            <a:avLst/>
          </a:prstGeom>
          <a:noFill/>
        </p:spPr>
        <p:txBody>
          <a:bodyPr wrap="square" lIns="0" rIns="0" tIns="0" bIns="0">
            <a:spAutoFit/>
          </a:bodyPr>
          <a:lstStyle/>
          <a:p>
            <a:pPr algn="l">
              <a:lnSpc>
                <a:spcPct val="102000"/>
              </a:lnSpc>
            </a:pPr>
            <a:r>
              <a:rPr sz="1050" b="0" i="0">
                <a:solidFill>
                  <a:srgbClr val="8A7F76"/>
                </a:solidFill>
                <a:latin typeface="Calibri"/>
              </a:rPr>
              <a:t>the overall mean, and the mean of that subject and grade</a:t>
            </a:r>
          </a:p>
        </p:txBody>
      </p:sp>
      <p:sp>
        <p:nvSpPr>
          <p:cNvPr id="10" name="Isosceles Triangle 9"/>
          <p:cNvSpPr/>
          <p:nvPr/>
        </p:nvSpPr>
        <p:spPr>
          <a:xfrm rot="5400000">
            <a:off x="4914900" y="1801368"/>
            <a:ext cx="109728" cy="182880"/>
          </a:xfrm>
          <a:prstGeom prst="triangl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65776" y="1188720"/>
            <a:ext cx="2057400"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230368" y="1325880"/>
            <a:ext cx="1728216" cy="640080"/>
          </a:xfrm>
          <a:prstGeom prst="rect">
            <a:avLst/>
          </a:prstGeom>
          <a:noFill/>
        </p:spPr>
        <p:txBody>
          <a:bodyPr wrap="square" lIns="0" rIns="0" tIns="0" bIns="0">
            <a:spAutoFit/>
          </a:bodyPr>
          <a:lstStyle/>
          <a:p>
            <a:pPr algn="l">
              <a:lnSpc>
                <a:spcPct val="102000"/>
              </a:lnSpc>
            </a:pPr>
            <a:r>
              <a:rPr sz="1350" b="1" i="0">
                <a:solidFill>
                  <a:srgbClr val="7A4A3F"/>
                </a:solidFill>
                <a:latin typeface="Calibri"/>
              </a:rPr>
              <a:t>Two model tracks</a:t>
            </a:r>
          </a:p>
        </p:txBody>
      </p:sp>
      <p:sp>
        <p:nvSpPr>
          <p:cNvPr id="13" name="TextBox 12"/>
          <p:cNvSpPr txBox="1"/>
          <p:nvPr/>
        </p:nvSpPr>
        <p:spPr>
          <a:xfrm>
            <a:off x="5230368" y="1956816"/>
            <a:ext cx="1728216" cy="594360"/>
          </a:xfrm>
          <a:prstGeom prst="rect">
            <a:avLst/>
          </a:prstGeom>
          <a:noFill/>
        </p:spPr>
        <p:txBody>
          <a:bodyPr wrap="square" lIns="0" rIns="0" tIns="0" bIns="0">
            <a:spAutoFit/>
          </a:bodyPr>
          <a:lstStyle/>
          <a:p>
            <a:pPr algn="l">
              <a:lnSpc>
                <a:spcPct val="102000"/>
              </a:lnSpc>
            </a:pPr>
            <a:r>
              <a:rPr sz="1050" b="0" i="0">
                <a:solidFill>
                  <a:srgbClr val="8A7F76"/>
                </a:solidFill>
                <a:latin typeface="Calibri"/>
              </a:rPr>
              <a:t>linear and forest; logistic and forest on a High / Low label</a:t>
            </a:r>
          </a:p>
        </p:txBody>
      </p:sp>
      <p:sp>
        <p:nvSpPr>
          <p:cNvPr id="14" name="Isosceles Triangle 13"/>
          <p:cNvSpPr/>
          <p:nvPr/>
        </p:nvSpPr>
        <p:spPr>
          <a:xfrm rot="5400000">
            <a:off x="7164324" y="1801368"/>
            <a:ext cx="109728" cy="182880"/>
          </a:xfrm>
          <a:prstGeom prst="triangl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0" y="1188720"/>
            <a:ext cx="2057400"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79792" y="1325880"/>
            <a:ext cx="1728216" cy="640080"/>
          </a:xfrm>
          <a:prstGeom prst="rect">
            <a:avLst/>
          </a:prstGeom>
          <a:noFill/>
        </p:spPr>
        <p:txBody>
          <a:bodyPr wrap="square" lIns="0" rIns="0" tIns="0" bIns="0">
            <a:spAutoFit/>
          </a:bodyPr>
          <a:lstStyle/>
          <a:p>
            <a:pPr algn="l">
              <a:lnSpc>
                <a:spcPct val="102000"/>
              </a:lnSpc>
            </a:pPr>
            <a:r>
              <a:rPr sz="1350" b="1" i="0">
                <a:solidFill>
                  <a:srgbClr val="7A4A3F"/>
                </a:solidFill>
                <a:latin typeface="Calibri"/>
              </a:rPr>
              <a:t>Out-of-fold gaps</a:t>
            </a:r>
          </a:p>
        </p:txBody>
      </p:sp>
      <p:sp>
        <p:nvSpPr>
          <p:cNvPr id="17" name="TextBox 16"/>
          <p:cNvSpPr txBox="1"/>
          <p:nvPr/>
        </p:nvSpPr>
        <p:spPr>
          <a:xfrm>
            <a:off x="7479792" y="1956816"/>
            <a:ext cx="1728216" cy="594360"/>
          </a:xfrm>
          <a:prstGeom prst="rect">
            <a:avLst/>
          </a:prstGeom>
          <a:noFill/>
        </p:spPr>
        <p:txBody>
          <a:bodyPr wrap="square" lIns="0" rIns="0" tIns="0" bIns="0">
            <a:spAutoFit/>
          </a:bodyPr>
          <a:lstStyle/>
          <a:p>
            <a:pPr algn="l">
              <a:lnSpc>
                <a:spcPct val="102000"/>
              </a:lnSpc>
            </a:pPr>
            <a:r>
              <a:rPr sz="1050" b="0" i="0">
                <a:solidFill>
                  <a:srgbClr val="8A7F76"/>
                </a:solidFill>
                <a:latin typeface="Calibri"/>
              </a:rPr>
              <a:t>every authority predicted by a model that never saw it</a:t>
            </a:r>
          </a:p>
        </p:txBody>
      </p:sp>
      <p:sp>
        <p:nvSpPr>
          <p:cNvPr id="18" name="Isosceles Triangle 17"/>
          <p:cNvSpPr/>
          <p:nvPr/>
        </p:nvSpPr>
        <p:spPr>
          <a:xfrm rot="5400000">
            <a:off x="9413748" y="1801368"/>
            <a:ext cx="109728" cy="182880"/>
          </a:xfrm>
          <a:prstGeom prst="triangle">
            <a:avLst/>
          </a:prstGeom>
          <a:solidFill>
            <a:srgbClr val="B850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64624" y="1188720"/>
            <a:ext cx="2057400"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729216" y="1325880"/>
            <a:ext cx="1728216" cy="640080"/>
          </a:xfrm>
          <a:prstGeom prst="rect">
            <a:avLst/>
          </a:prstGeom>
          <a:noFill/>
        </p:spPr>
        <p:txBody>
          <a:bodyPr wrap="square" lIns="0" rIns="0" tIns="0" bIns="0">
            <a:spAutoFit/>
          </a:bodyPr>
          <a:lstStyle/>
          <a:p>
            <a:pPr algn="l">
              <a:lnSpc>
                <a:spcPct val="102000"/>
              </a:lnSpc>
            </a:pPr>
            <a:r>
              <a:rPr sz="1350" b="1" i="0">
                <a:solidFill>
                  <a:srgbClr val="7A4A3F"/>
                </a:solidFill>
                <a:latin typeface="Calibri"/>
              </a:rPr>
              <a:t>Clustering</a:t>
            </a:r>
          </a:p>
        </p:txBody>
      </p:sp>
      <p:sp>
        <p:nvSpPr>
          <p:cNvPr id="21" name="TextBox 20"/>
          <p:cNvSpPr txBox="1"/>
          <p:nvPr/>
        </p:nvSpPr>
        <p:spPr>
          <a:xfrm>
            <a:off x="9729216" y="1956816"/>
            <a:ext cx="1728216" cy="594360"/>
          </a:xfrm>
          <a:prstGeom prst="rect">
            <a:avLst/>
          </a:prstGeom>
          <a:noFill/>
        </p:spPr>
        <p:txBody>
          <a:bodyPr wrap="square" lIns="0" rIns="0" tIns="0" bIns="0">
            <a:spAutoFit/>
          </a:bodyPr>
          <a:lstStyle/>
          <a:p>
            <a:pPr algn="l">
              <a:lnSpc>
                <a:spcPct val="102000"/>
              </a:lnSpc>
            </a:pPr>
            <a:r>
              <a:rPr sz="1050" b="0" i="0">
                <a:solidFill>
                  <a:srgbClr val="8A7F76"/>
                </a:solidFill>
                <a:latin typeface="Calibri"/>
              </a:rPr>
              <a:t>K-Means on grade 8 scores, and on the gaps</a:t>
            </a:r>
          </a:p>
        </p:txBody>
      </p:sp>
      <p:sp>
        <p:nvSpPr>
          <p:cNvPr id="22" name="Rounded Rectangle 21"/>
          <p:cNvSpPr/>
          <p:nvPr/>
        </p:nvSpPr>
        <p:spPr>
          <a:xfrm>
            <a:off x="566928" y="2834640"/>
            <a:ext cx="6675120" cy="192024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3017520"/>
            <a:ext cx="6126480" cy="274320"/>
          </a:xfrm>
          <a:prstGeom prst="rect">
            <a:avLst/>
          </a:prstGeom>
          <a:noFill/>
        </p:spPr>
        <p:txBody>
          <a:bodyPr wrap="square" lIns="0" rIns="0" tIns="0" bIns="0">
            <a:spAutoFit/>
          </a:bodyPr>
          <a:lstStyle/>
          <a:p>
            <a:pPr algn="l"/>
            <a:r>
              <a:rPr sz="1600" b="1" i="0">
                <a:solidFill>
                  <a:srgbClr val="7A4A3F"/>
                </a:solidFill>
                <a:latin typeface="Calibri"/>
              </a:rPr>
              <a:t>Why split by authority, and what it cost</a:t>
            </a:r>
          </a:p>
        </p:txBody>
      </p:sp>
      <p:sp>
        <p:nvSpPr>
          <p:cNvPr id="24" name="TextBox 23"/>
          <p:cNvSpPr txBox="1"/>
          <p:nvPr/>
        </p:nvSpPr>
        <p:spPr>
          <a:xfrm>
            <a:off x="841247" y="3337560"/>
            <a:ext cx="6126480" cy="1280160"/>
          </a:xfrm>
          <a:prstGeom prst="rect">
            <a:avLst/>
          </a:prstGeom>
          <a:noFill/>
        </p:spPr>
        <p:txBody>
          <a:bodyPr wrap="square" lIns="0" rIns="0" tIns="0" bIns="0">
            <a:spAutoFit/>
          </a:bodyPr>
          <a:lstStyle/>
          <a:p>
            <a:pPr algn="l">
              <a:lnSpc>
                <a:spcPct val="104000"/>
              </a:lnSpc>
            </a:pPr>
            <a:r>
              <a:rPr sz="1350" b="0" i="0">
                <a:solidFill>
                  <a:srgbClr val="33302E"/>
                </a:solidFill>
                <a:latin typeface="Calibri"/>
              </a:rPr>
              <a:t>1,749 rows come from only 243 authorities, so the rows are not independent. In a plain split by row, 236 of the 243 authorities land in more than one set, and predicting each test row from nothing but its own authority's training average already reaches R² = 0.30. Splitting by authority removes that shortcut, and GroupKFold keeps it out of the tuning folds too.</a:t>
            </a:r>
          </a:p>
        </p:txBody>
      </p:sp>
      <p:sp>
        <p:nvSpPr>
          <p:cNvPr id="25" name="Rounded Rectangle 24"/>
          <p:cNvSpPr/>
          <p:nvPr/>
        </p:nvSpPr>
        <p:spPr>
          <a:xfrm>
            <a:off x="7452360" y="2834640"/>
            <a:ext cx="4169663" cy="192024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26679" y="3017520"/>
            <a:ext cx="3621024" cy="274320"/>
          </a:xfrm>
          <a:prstGeom prst="rect">
            <a:avLst/>
          </a:prstGeom>
          <a:noFill/>
        </p:spPr>
        <p:txBody>
          <a:bodyPr wrap="square" lIns="0" rIns="0" tIns="0" bIns="0">
            <a:spAutoFit/>
          </a:bodyPr>
          <a:lstStyle/>
          <a:p>
            <a:pPr algn="l"/>
            <a:r>
              <a:rPr sz="1600" b="1" i="0">
                <a:solidFill>
                  <a:srgbClr val="7A4A3F"/>
                </a:solidFill>
                <a:latin typeface="Calibri"/>
              </a:rPr>
              <a:t>Set-up at a glance</a:t>
            </a:r>
          </a:p>
        </p:txBody>
      </p:sp>
      <p:sp>
        <p:nvSpPr>
          <p:cNvPr id="27" name="TextBox 26"/>
          <p:cNvSpPr txBox="1"/>
          <p:nvPr/>
        </p:nvSpPr>
        <p:spPr>
          <a:xfrm>
            <a:off x="7726679" y="3364992"/>
            <a:ext cx="3621024" cy="1325880"/>
          </a:xfrm>
          <a:prstGeom prst="rect">
            <a:avLst/>
          </a:prstGeom>
          <a:noFill/>
        </p:spPr>
        <p:txBody>
          <a:bodyPr wrap="square" lIns="0" rIns="0" tIns="0" bIns="0">
            <a:spAutoFit/>
          </a:bodyPr>
          <a:lstStyle/>
          <a:p>
            <a:pPr algn="l" marL="237744" indent="-237744">
              <a:lnSpc>
                <a:spcPct val="102000"/>
              </a:lnSpc>
              <a:spcAft>
                <a:spcPts val="300"/>
              </a:spcAft>
            </a:pPr>
            <a:r>
              <a:rPr sz="1200" b="1" i="0">
                <a:solidFill>
                  <a:srgbClr val="B85042"/>
                </a:solidFill>
                <a:latin typeface="Calibri"/>
              </a:rPr>
              <a:t>•   </a:t>
            </a:r>
            <a:r>
              <a:rPr sz="1200" b="0" i="0">
                <a:solidFill>
                  <a:srgbClr val="33302E"/>
                </a:solidFill>
                <a:latin typeface="Calibri"/>
              </a:rPr>
              <a:t>20 features: 16 about the authority, 4 about the test</a:t>
            </a:r>
          </a:p>
          <a:p>
            <a:pPr algn="l" marL="237744" indent="-237744">
              <a:lnSpc>
                <a:spcPct val="102000"/>
              </a:lnSpc>
              <a:spcAft>
                <a:spcPts val="300"/>
              </a:spcAft>
            </a:pPr>
            <a:r>
              <a:rPr sz="1200" b="1" i="0">
                <a:solidFill>
                  <a:srgbClr val="B85042"/>
                </a:solidFill>
                <a:latin typeface="Calibri"/>
              </a:rPr>
              <a:t>•   </a:t>
            </a:r>
            <a:r>
              <a:rPr sz="1200" b="0" i="0">
                <a:solidFill>
                  <a:srgbClr val="33302E"/>
                </a:solidFill>
                <a:latin typeface="Calibri"/>
              </a:rPr>
              <a:t>50 / 20 / 30 by authority, stratified by cluster</a:t>
            </a:r>
          </a:p>
          <a:p>
            <a:pPr algn="l" marL="237744" indent="-237744">
              <a:lnSpc>
                <a:spcPct val="102000"/>
              </a:lnSpc>
              <a:spcAft>
                <a:spcPts val="300"/>
              </a:spcAft>
            </a:pPr>
            <a:r>
              <a:rPr sz="1200" b="1" i="0">
                <a:solidFill>
                  <a:srgbClr val="B85042"/>
                </a:solidFill>
                <a:latin typeface="Calibri"/>
              </a:rPr>
              <a:t>•   </a:t>
            </a:r>
            <a:r>
              <a:rPr sz="1200" b="0" i="0">
                <a:solidFill>
                  <a:srgbClr val="33302E"/>
                </a:solidFill>
                <a:latin typeface="Calibri"/>
              </a:rPr>
              <a:t>GroupKFold(5) tuning, median imputation in the pipeline</a:t>
            </a:r>
          </a:p>
          <a:p>
            <a:pPr algn="l" marL="237744" indent="-237744">
              <a:lnSpc>
                <a:spcPct val="102000"/>
              </a:lnSpc>
              <a:spcAft>
                <a:spcPts val="300"/>
              </a:spcAft>
            </a:pPr>
            <a:r>
              <a:rPr sz="1200" b="1" i="0">
                <a:solidFill>
                  <a:srgbClr val="B85042"/>
                </a:solidFill>
                <a:latin typeface="Calibri"/>
              </a:rPr>
              <a:t>•   </a:t>
            </a:r>
            <a:r>
              <a:rPr sz="1200" b="0" i="0">
                <a:solidFill>
                  <a:srgbClr val="33302E"/>
                </a:solidFill>
                <a:latin typeface="Calibri"/>
              </a:rPr>
              <a:t>pandas, numpy, matplotlib, scikit-learn, seed 42</a:t>
            </a:r>
          </a:p>
        </p:txBody>
      </p:sp>
      <p:sp>
        <p:nvSpPr>
          <p:cNvPr id="28" name="TextBox 27"/>
          <p:cNvSpPr txBox="1"/>
          <p:nvPr/>
        </p:nvSpPr>
        <p:spPr>
          <a:xfrm>
            <a:off x="566928" y="4937760"/>
            <a:ext cx="3017520" cy="445008"/>
          </a:xfrm>
          <a:prstGeom prst="rect">
            <a:avLst/>
          </a:prstGeom>
          <a:noFill/>
        </p:spPr>
        <p:txBody>
          <a:bodyPr wrap="square" lIns="0" rIns="0" tIns="0" bIns="0">
            <a:spAutoFit/>
          </a:bodyPr>
          <a:lstStyle/>
          <a:p>
            <a:pPr algn="l"/>
            <a:r>
              <a:rPr sz="2800" b="1" i="0">
                <a:solidFill>
                  <a:srgbClr val="B85042"/>
                </a:solidFill>
                <a:latin typeface="Cambria"/>
              </a:rPr>
              <a:t>R² = 0.30</a:t>
            </a:r>
          </a:p>
        </p:txBody>
      </p:sp>
      <p:sp>
        <p:nvSpPr>
          <p:cNvPr id="29" name="TextBox 28"/>
          <p:cNvSpPr txBox="1"/>
          <p:nvPr/>
        </p:nvSpPr>
        <p:spPr>
          <a:xfrm>
            <a:off x="566928" y="5382768"/>
            <a:ext cx="3017520"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what memorising an authority's average buys in a row split, with no socio-economic variable at all</a:t>
            </a:r>
          </a:p>
        </p:txBody>
      </p:sp>
      <p:sp>
        <p:nvSpPr>
          <p:cNvPr id="30" name="TextBox 29"/>
          <p:cNvSpPr txBox="1"/>
          <p:nvPr/>
        </p:nvSpPr>
        <p:spPr>
          <a:xfrm>
            <a:off x="3931920" y="4937760"/>
            <a:ext cx="3017520" cy="445008"/>
          </a:xfrm>
          <a:prstGeom prst="rect">
            <a:avLst/>
          </a:prstGeom>
          <a:noFill/>
        </p:spPr>
        <p:txBody>
          <a:bodyPr wrap="square" lIns="0" rIns="0" tIns="0" bIns="0">
            <a:spAutoFit/>
          </a:bodyPr>
          <a:lstStyle/>
          <a:p>
            <a:pPr algn="l"/>
            <a:r>
              <a:rPr sz="2800" b="1" i="0">
                <a:solidFill>
                  <a:srgbClr val="50808E"/>
                </a:solidFill>
                <a:latin typeface="Cambria"/>
              </a:rPr>
              <a:t>0 of 74</a:t>
            </a:r>
          </a:p>
        </p:txBody>
      </p:sp>
      <p:sp>
        <p:nvSpPr>
          <p:cNvPr id="31" name="TextBox 30"/>
          <p:cNvSpPr txBox="1"/>
          <p:nvPr/>
        </p:nvSpPr>
        <p:spPr>
          <a:xfrm>
            <a:off x="3931920" y="5382768"/>
            <a:ext cx="3017520"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test authorities the model had already seen, under the split we use</a:t>
            </a:r>
          </a:p>
        </p:txBody>
      </p:sp>
      <p:sp>
        <p:nvSpPr>
          <p:cNvPr id="32" name="TextBox 31"/>
          <p:cNvSpPr txBox="1"/>
          <p:nvPr/>
        </p:nvSpPr>
        <p:spPr>
          <a:xfrm>
            <a:off x="7452360" y="4937760"/>
            <a:ext cx="4114800" cy="445008"/>
          </a:xfrm>
          <a:prstGeom prst="rect">
            <a:avLst/>
          </a:prstGeom>
          <a:noFill/>
        </p:spPr>
        <p:txBody>
          <a:bodyPr wrap="square" lIns="0" rIns="0" tIns="0" bIns="0">
            <a:spAutoFit/>
          </a:bodyPr>
          <a:lstStyle/>
          <a:p>
            <a:pPr algn="l"/>
            <a:r>
              <a:rPr sz="2800" b="1" i="0">
                <a:solidFill>
                  <a:srgbClr val="50808E"/>
                </a:solidFill>
                <a:latin typeface="Cambria"/>
              </a:rPr>
              <a:t>R² = 0.530</a:t>
            </a:r>
          </a:p>
        </p:txBody>
      </p:sp>
      <p:sp>
        <p:nvSpPr>
          <p:cNvPr id="33" name="TextBox 32"/>
          <p:cNvSpPr txBox="1"/>
          <p:nvPr/>
        </p:nvSpPr>
        <p:spPr>
          <a:xfrm>
            <a:off x="7452360" y="5382768"/>
            <a:ext cx="4114800"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the chosen forest on the held-out authorities, against 0.281 for the subject and grade baseline</a:t>
            </a:r>
          </a:p>
        </p:txBody>
      </p:sp>
      <p:sp>
        <p:nvSpPr>
          <p:cNvPr id="34" name="TextBox 33"/>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35" name="TextBox 34"/>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Deviation does not follow socio-economic standing</a:t>
            </a:r>
          </a:p>
        </p:txBody>
      </p:sp>
      <p:pic>
        <p:nvPicPr>
          <p:cNvPr id="3" name="Picture 2" descr="deck_fig08.png"/>
          <p:cNvPicPr>
            <a:picLocks noChangeAspect="1"/>
          </p:cNvPicPr>
          <p:nvPr/>
        </p:nvPicPr>
        <p:blipFill>
          <a:blip r:embed="rId2"/>
          <a:stretch>
            <a:fillRect/>
          </a:stretch>
        </p:blipFill>
        <p:spPr>
          <a:xfrm>
            <a:off x="566928" y="1188720"/>
            <a:ext cx="6675120" cy="3886200"/>
          </a:xfrm>
          <a:prstGeom prst="rect">
            <a:avLst/>
          </a:prstGeom>
        </p:spPr>
      </p:pic>
      <p:sp>
        <p:nvSpPr>
          <p:cNvPr id="4" name="TextBox 3"/>
          <p:cNvSpPr txBox="1"/>
          <p:nvPr/>
        </p:nvSpPr>
        <p:spPr>
          <a:xfrm>
            <a:off x="566928" y="5148072"/>
            <a:ext cx="6675120" cy="274320"/>
          </a:xfrm>
          <a:prstGeom prst="rect">
            <a:avLst/>
          </a:prstGeom>
          <a:noFill/>
        </p:spPr>
        <p:txBody>
          <a:bodyPr wrap="square" lIns="0" rIns="0" tIns="0" bIns="0">
            <a:spAutoFit/>
          </a:bodyPr>
          <a:lstStyle/>
          <a:p>
            <a:pPr algn="l"/>
            <a:r>
              <a:rPr sz="1050" b="1" i="0">
                <a:solidFill>
                  <a:srgbClr val="8A7F76"/>
                </a:solidFill>
                <a:latin typeface="Calibri"/>
              </a:rPr>
              <a:t>Fig 8. </a:t>
            </a:r>
            <a:r>
              <a:rPr sz="1050" b="0" i="0">
                <a:solidFill>
                  <a:srgbClr val="8A7F76"/>
                </a:solidFill>
                <a:latin typeface="Calibri"/>
              </a:rPr>
              <a:t>Mean standardized gap against the socio-economic index, one point per authority, the extremes labelled.</a:t>
            </a:r>
          </a:p>
        </p:txBody>
      </p:sp>
      <p:sp>
        <p:nvSpPr>
          <p:cNvPr id="5" name="TextBox 4"/>
          <p:cNvSpPr txBox="1"/>
          <p:nvPr/>
        </p:nvSpPr>
        <p:spPr>
          <a:xfrm>
            <a:off x="566928" y="5532120"/>
            <a:ext cx="6675120" cy="640080"/>
          </a:xfrm>
          <a:prstGeom prst="rect">
            <a:avLst/>
          </a:prstGeom>
          <a:noFill/>
        </p:spPr>
        <p:txBody>
          <a:bodyPr wrap="square" lIns="0" rIns="0" tIns="0" bIns="0">
            <a:spAutoFit/>
          </a:bodyPr>
          <a:lstStyle/>
          <a:p>
            <a:pPr algn="l">
              <a:lnSpc>
                <a:spcPct val="105000"/>
              </a:lnSpc>
            </a:pPr>
            <a:r>
              <a:rPr sz="1600" b="1" i="0">
                <a:solidFill>
                  <a:srgbClr val="B85042"/>
                </a:solidFill>
                <a:latin typeface="Cambria"/>
              </a:rPr>
              <a:t>An authority's cluster tells you nothing about whether it beats or misses its own prediction.</a:t>
            </a:r>
          </a:p>
        </p:txBody>
      </p:sp>
      <p:sp>
        <p:nvSpPr>
          <p:cNvPr id="6" name="TextBox 5"/>
          <p:cNvSpPr txBox="1"/>
          <p:nvPr/>
        </p:nvSpPr>
        <p:spPr>
          <a:xfrm>
            <a:off x="7452360" y="1234440"/>
            <a:ext cx="4169663" cy="536448"/>
          </a:xfrm>
          <a:prstGeom prst="rect">
            <a:avLst/>
          </a:prstGeom>
          <a:noFill/>
        </p:spPr>
        <p:txBody>
          <a:bodyPr wrap="square" lIns="0" rIns="0" tIns="0" bIns="0">
            <a:spAutoFit/>
          </a:bodyPr>
          <a:lstStyle/>
          <a:p>
            <a:pPr algn="l"/>
            <a:r>
              <a:rPr sz="3400" b="1" i="0">
                <a:solidFill>
                  <a:srgbClr val="B85042"/>
                </a:solidFill>
                <a:latin typeface="Cambria"/>
              </a:rPr>
              <a:t>r = 0.011</a:t>
            </a:r>
          </a:p>
        </p:txBody>
      </p:sp>
      <p:sp>
        <p:nvSpPr>
          <p:cNvPr id="7" name="TextBox 6"/>
          <p:cNvSpPr txBox="1"/>
          <p:nvPr/>
        </p:nvSpPr>
        <p:spPr>
          <a:xfrm>
            <a:off x="7452360" y="1770888"/>
            <a:ext cx="4169663"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between an authority's mean gap and its socio-economic index, across all 238 eligible authorities. The cloud is flat.</a:t>
            </a:r>
          </a:p>
        </p:txBody>
      </p:sp>
      <p:sp>
        <p:nvSpPr>
          <p:cNvPr id="8" name="TextBox 7"/>
          <p:cNvSpPr txBox="1"/>
          <p:nvPr/>
        </p:nvSpPr>
        <p:spPr>
          <a:xfrm>
            <a:off x="7452360" y="2423160"/>
            <a:ext cx="4169663" cy="536448"/>
          </a:xfrm>
          <a:prstGeom prst="rect">
            <a:avLst/>
          </a:prstGeom>
          <a:noFill/>
        </p:spPr>
        <p:txBody>
          <a:bodyPr wrap="square" lIns="0" rIns="0" tIns="0" bIns="0">
            <a:spAutoFit/>
          </a:bodyPr>
          <a:lstStyle/>
          <a:p>
            <a:pPr algn="l"/>
            <a:r>
              <a:rPr sz="3400" b="1" i="0">
                <a:solidFill>
                  <a:srgbClr val="50808E"/>
                </a:solidFill>
                <a:latin typeface="Cambria"/>
              </a:rPr>
              <a:t>65 of 238</a:t>
            </a:r>
          </a:p>
        </p:txBody>
      </p:sp>
      <p:sp>
        <p:nvSpPr>
          <p:cNvPr id="9" name="TextBox 8"/>
          <p:cNvSpPr txBox="1"/>
          <p:nvPr/>
        </p:nvSpPr>
        <p:spPr>
          <a:xfrm>
            <a:off x="7452360" y="2959607"/>
            <a:ext cx="4169663"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authorities where every single row falls on the same side of its prediction: 33 above, 32 below</a:t>
            </a:r>
          </a:p>
        </p:txBody>
      </p:sp>
      <p:sp>
        <p:nvSpPr>
          <p:cNvPr id="10" name="TextBox 9"/>
          <p:cNvSpPr txBox="1"/>
          <p:nvPr/>
        </p:nvSpPr>
        <p:spPr>
          <a:xfrm>
            <a:off x="7452360" y="3611880"/>
            <a:ext cx="4169663" cy="536448"/>
          </a:xfrm>
          <a:prstGeom prst="rect">
            <a:avLst/>
          </a:prstGeom>
          <a:noFill/>
        </p:spPr>
        <p:txBody>
          <a:bodyPr wrap="square" lIns="0" rIns="0" tIns="0" bIns="0">
            <a:spAutoFit/>
          </a:bodyPr>
          <a:lstStyle/>
          <a:p>
            <a:pPr algn="l"/>
            <a:r>
              <a:rPr sz="3400" b="1" i="0">
                <a:solidFill>
                  <a:srgbClr val="7A4A3F"/>
                </a:solidFill>
                <a:latin typeface="Cambria"/>
              </a:rPr>
              <a:t>20</a:t>
            </a:r>
          </a:p>
        </p:txBody>
      </p:sp>
      <p:sp>
        <p:nvSpPr>
          <p:cNvPr id="11" name="TextBox 10"/>
          <p:cNvSpPr txBox="1"/>
          <p:nvPr/>
        </p:nvSpPr>
        <p:spPr>
          <a:xfrm>
            <a:off x="7452360" y="4148328"/>
            <a:ext cx="4169663"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of those 65 survive all seven rebuilds of the analysis, and no authority ever changed direction</a:t>
            </a:r>
          </a:p>
        </p:txBody>
      </p:sp>
      <p:sp>
        <p:nvSpPr>
          <p:cNvPr id="12" name="Rounded Rectangle 11"/>
          <p:cNvSpPr/>
          <p:nvPr/>
        </p:nvSpPr>
        <p:spPr>
          <a:xfrm>
            <a:off x="7452360" y="4800600"/>
            <a:ext cx="4169663" cy="132588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80960" y="4956048"/>
            <a:ext cx="3712463" cy="1005840"/>
          </a:xfrm>
          <a:prstGeom prst="rect">
            <a:avLst/>
          </a:prstGeom>
          <a:noFill/>
        </p:spPr>
        <p:txBody>
          <a:bodyPr wrap="square" lIns="0" rIns="0" tIns="0" bIns="0">
            <a:spAutoFit/>
          </a:bodyPr>
          <a:lstStyle/>
          <a:p>
            <a:pPr algn="l">
              <a:lnSpc>
                <a:spcPct val="104000"/>
              </a:lnSpc>
            </a:pPr>
            <a:r>
              <a:rPr sz="1150" b="0" i="0">
                <a:solidFill>
                  <a:srgbClr val="33302E"/>
                </a:solidFill>
                <a:latin typeface="Calibri"/>
              </a:rPr>
              <a:t>The gaps are out-of-fold, with GroupKFold on the authority, and standardized within subject and grade. A gap of 1.0 means one standard deviation better than predicted for that test, which is about 26 score points.</a:t>
            </a:r>
          </a:p>
        </p:txBody>
      </p:sp>
      <p:sp>
        <p:nvSpPr>
          <p:cNvPr id="14" name="TextBox 13"/>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5" name="TextBox 14"/>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The official clusters are not interchangeable</a:t>
            </a:r>
          </a:p>
        </p:txBody>
      </p:sp>
      <p:pic>
        <p:nvPicPr>
          <p:cNvPr id="3" name="Picture 2" descr="deck_fig10.png"/>
          <p:cNvPicPr>
            <a:picLocks noChangeAspect="1"/>
          </p:cNvPicPr>
          <p:nvPr/>
        </p:nvPicPr>
        <p:blipFill>
          <a:blip r:embed="rId2"/>
          <a:stretch>
            <a:fillRect/>
          </a:stretch>
        </p:blipFill>
        <p:spPr>
          <a:xfrm>
            <a:off x="566928" y="1170432"/>
            <a:ext cx="5029200" cy="4160520"/>
          </a:xfrm>
          <a:prstGeom prst="rect">
            <a:avLst/>
          </a:prstGeom>
        </p:spPr>
      </p:pic>
      <p:sp>
        <p:nvSpPr>
          <p:cNvPr id="4" name="TextBox 3"/>
          <p:cNvSpPr txBox="1"/>
          <p:nvPr/>
        </p:nvSpPr>
        <p:spPr>
          <a:xfrm>
            <a:off x="566928" y="5404104"/>
            <a:ext cx="5029200" cy="274320"/>
          </a:xfrm>
          <a:prstGeom prst="rect">
            <a:avLst/>
          </a:prstGeom>
          <a:noFill/>
        </p:spPr>
        <p:txBody>
          <a:bodyPr wrap="square" lIns="0" rIns="0" tIns="0" bIns="0">
            <a:spAutoFit/>
          </a:bodyPr>
          <a:lstStyle/>
          <a:p>
            <a:pPr algn="l"/>
            <a:r>
              <a:rPr sz="1050" b="1" i="0">
                <a:solidFill>
                  <a:srgbClr val="8A7F76"/>
                </a:solidFill>
                <a:latin typeface="Calibri"/>
              </a:rPr>
              <a:t>Fig 10. </a:t>
            </a:r>
            <a:r>
              <a:rPr sz="1050" b="0" i="0">
                <a:solidFill>
                  <a:srgbClr val="8A7F76"/>
                </a:solidFill>
                <a:latin typeface="Calibri"/>
              </a:rPr>
              <a:t>Our achievement groups (k = 10) against the official CBS clusters, 223 authorities.</a:t>
            </a:r>
          </a:p>
        </p:txBody>
      </p:sp>
      <p:sp>
        <p:nvSpPr>
          <p:cNvPr id="5" name="TextBox 4"/>
          <p:cNvSpPr txBox="1"/>
          <p:nvPr/>
        </p:nvSpPr>
        <p:spPr>
          <a:xfrm>
            <a:off x="5943600" y="1207008"/>
            <a:ext cx="5678424" cy="475488"/>
          </a:xfrm>
          <a:prstGeom prst="rect">
            <a:avLst/>
          </a:prstGeom>
          <a:noFill/>
        </p:spPr>
        <p:txBody>
          <a:bodyPr wrap="square" lIns="0" rIns="0" tIns="0" bIns="0">
            <a:spAutoFit/>
          </a:bodyPr>
          <a:lstStyle/>
          <a:p>
            <a:pPr algn="l"/>
            <a:r>
              <a:rPr sz="3000" b="1" i="0">
                <a:solidFill>
                  <a:srgbClr val="B85042"/>
                </a:solidFill>
                <a:latin typeface="Cambria"/>
              </a:rPr>
              <a:t>1.54 clusters</a:t>
            </a:r>
          </a:p>
        </p:txBody>
      </p:sp>
      <p:sp>
        <p:nvSpPr>
          <p:cNvPr id="6" name="TextBox 5"/>
          <p:cNvSpPr txBox="1"/>
          <p:nvPr/>
        </p:nvSpPr>
        <p:spPr>
          <a:xfrm>
            <a:off x="5943600" y="1682496"/>
            <a:ext cx="5678424"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the average distance between an authority's official cluster and the group its grade 8 results put it in, against 2.70 if the two were unrelated</a:t>
            </a:r>
          </a:p>
        </p:txBody>
      </p:sp>
      <p:sp>
        <p:nvSpPr>
          <p:cNvPr id="7" name="TextBox 6"/>
          <p:cNvSpPr txBox="1"/>
          <p:nvPr/>
        </p:nvSpPr>
        <p:spPr>
          <a:xfrm>
            <a:off x="5943600" y="2487168"/>
            <a:ext cx="5678424" cy="475488"/>
          </a:xfrm>
          <a:prstGeom prst="rect">
            <a:avLst/>
          </a:prstGeom>
          <a:noFill/>
        </p:spPr>
        <p:txBody>
          <a:bodyPr wrap="square" lIns="0" rIns="0" tIns="0" bIns="0">
            <a:spAutoFit/>
          </a:bodyPr>
          <a:lstStyle/>
          <a:p>
            <a:pPr algn="l"/>
            <a:r>
              <a:rPr sz="3000" b="1" i="0">
                <a:solidFill>
                  <a:srgbClr val="50808E"/>
                </a:solidFill>
                <a:latin typeface="Cambria"/>
              </a:rPr>
              <a:t>55 of 223</a:t>
            </a:r>
          </a:p>
        </p:txBody>
      </p:sp>
      <p:sp>
        <p:nvSpPr>
          <p:cNvPr id="8" name="TextBox 7"/>
          <p:cNvSpPr txBox="1"/>
          <p:nvPr/>
        </p:nvSpPr>
        <p:spPr>
          <a:xfrm>
            <a:off x="5943600" y="2962656"/>
            <a:ext cx="5678424"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land on the same number, and 43 sit three or more clusters away. The two systems agree on direction and disagree on the details</a:t>
            </a:r>
          </a:p>
        </p:txBody>
      </p:sp>
      <p:sp>
        <p:nvSpPr>
          <p:cNvPr id="9" name="Rounded Rectangle 8"/>
          <p:cNvSpPr/>
          <p:nvPr/>
        </p:nvSpPr>
        <p:spPr>
          <a:xfrm>
            <a:off x="5943600" y="3767328"/>
            <a:ext cx="5678424"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3950208"/>
            <a:ext cx="5129784" cy="1097280"/>
          </a:xfrm>
          <a:prstGeom prst="rect">
            <a:avLst/>
          </a:prstGeom>
          <a:noFill/>
        </p:spPr>
        <p:txBody>
          <a:bodyPr wrap="square" lIns="0" rIns="0" tIns="0" bIns="0">
            <a:spAutoFit/>
          </a:bodyPr>
          <a:lstStyle/>
          <a:p>
            <a:pPr algn="l">
              <a:spcAft>
                <a:spcPts val="400"/>
              </a:spcAft>
            </a:pPr>
            <a:r>
              <a:rPr sz="1400" b="1" i="0">
                <a:solidFill>
                  <a:srgbClr val="7A4A3F"/>
                </a:solidFill>
                <a:latin typeface="Calibri"/>
              </a:rPr>
              <a:t>The same test on the gaps</a:t>
            </a:r>
          </a:p>
          <a:p>
            <a:pPr algn="l">
              <a:lnSpc>
                <a:spcPct val="104000"/>
              </a:lnSpc>
            </a:pPr>
            <a:r>
              <a:rPr sz="1200" b="0" i="0">
                <a:solidFill>
                  <a:srgbClr val="33302E"/>
                </a:solidFill>
                <a:latin typeface="Calibri"/>
              </a:rPr>
              <a:t>Clustering the gaps instead of the scores gives a distance of 2.59 against 2.78 if unrelated, which is as close to no relationship as this measure gets. That is the check working: the gaps were built to be independent of socio-economic standing.</a:t>
            </a:r>
          </a:p>
        </p:txBody>
      </p:sp>
      <p:sp>
        <p:nvSpPr>
          <p:cNvPr id="11" name="TextBox 10"/>
          <p:cNvSpPr txBox="1"/>
          <p:nvPr/>
        </p:nvSpPr>
        <p:spPr>
          <a:xfrm>
            <a:off x="5943600" y="5394960"/>
            <a:ext cx="5678424" cy="731520"/>
          </a:xfrm>
          <a:prstGeom prst="rect">
            <a:avLst/>
          </a:prstGeom>
          <a:noFill/>
        </p:spPr>
        <p:txBody>
          <a:bodyPr wrap="square" lIns="0" rIns="0" tIns="0" bIns="0">
            <a:spAutoFit/>
          </a:bodyPr>
          <a:lstStyle/>
          <a:p>
            <a:pPr algn="l">
              <a:lnSpc>
                <a:spcPct val="104000"/>
              </a:lnSpc>
            </a:pPr>
            <a:r>
              <a:rPr sz="1300" b="0" i="0">
                <a:solidFill>
                  <a:srgbClr val="33302E"/>
                </a:solidFill>
                <a:latin typeface="Calibri"/>
              </a:rPr>
              <a:t>Six of the eight authorities furthest below their official cluster are regional councils, which average several separate communities into one number.</a:t>
            </a:r>
          </a:p>
        </p:txBody>
      </p:sp>
      <p:sp>
        <p:nvSpPr>
          <p:cNvPr id="12" name="TextBox 11"/>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3" name="TextBox 12"/>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Deviation is not the same in every subject</a:t>
            </a:r>
          </a:p>
        </p:txBody>
      </p:sp>
      <p:pic>
        <p:nvPicPr>
          <p:cNvPr id="3" name="Picture 2" descr="deck_fig11.png"/>
          <p:cNvPicPr>
            <a:picLocks noChangeAspect="1"/>
          </p:cNvPicPr>
          <p:nvPr/>
        </p:nvPicPr>
        <p:blipFill>
          <a:blip r:embed="rId2"/>
          <a:stretch>
            <a:fillRect/>
          </a:stretch>
        </p:blipFill>
        <p:spPr>
          <a:xfrm>
            <a:off x="566928" y="1298448"/>
            <a:ext cx="6949440" cy="3518703"/>
          </a:xfrm>
          <a:prstGeom prst="rect">
            <a:avLst/>
          </a:prstGeom>
        </p:spPr>
      </p:pic>
      <p:sp>
        <p:nvSpPr>
          <p:cNvPr id="4" name="TextBox 3"/>
          <p:cNvSpPr txBox="1"/>
          <p:nvPr/>
        </p:nvSpPr>
        <p:spPr>
          <a:xfrm>
            <a:off x="566928" y="4890303"/>
            <a:ext cx="6949440" cy="274320"/>
          </a:xfrm>
          <a:prstGeom prst="rect">
            <a:avLst/>
          </a:prstGeom>
          <a:noFill/>
        </p:spPr>
        <p:txBody>
          <a:bodyPr wrap="square" lIns="0" rIns="0" tIns="0" bIns="0">
            <a:spAutoFit/>
          </a:bodyPr>
          <a:lstStyle/>
          <a:p>
            <a:pPr algn="l"/>
            <a:r>
              <a:rPr sz="1050" b="1" i="0">
                <a:solidFill>
                  <a:srgbClr val="8A7F76"/>
                </a:solidFill>
                <a:latin typeface="Calibri"/>
              </a:rPr>
              <a:t>Fig 11. </a:t>
            </a:r>
            <a:r>
              <a:rPr sz="1050" b="0" i="0">
                <a:solidFill>
                  <a:srgbClr val="8A7F76"/>
                </a:solidFill>
                <a:latin typeface="Calibri"/>
              </a:rPr>
              <a:t>Mean gap per achievement group across the three grade 8 subjects taught in both sectors, k = 10.</a:t>
            </a:r>
          </a:p>
        </p:txBody>
      </p:sp>
      <p:sp>
        <p:nvSpPr>
          <p:cNvPr id="5" name="TextBox 4"/>
          <p:cNvSpPr txBox="1"/>
          <p:nvPr/>
        </p:nvSpPr>
        <p:spPr>
          <a:xfrm>
            <a:off x="566928" y="5394960"/>
            <a:ext cx="6949440" cy="640080"/>
          </a:xfrm>
          <a:prstGeom prst="rect">
            <a:avLst/>
          </a:prstGeom>
          <a:noFill/>
        </p:spPr>
        <p:txBody>
          <a:bodyPr wrap="square" lIns="0" rIns="0" tIns="0" bIns="0">
            <a:spAutoFit/>
          </a:bodyPr>
          <a:lstStyle/>
          <a:p>
            <a:pPr algn="l">
              <a:lnSpc>
                <a:spcPct val="105000"/>
              </a:lnSpc>
            </a:pPr>
            <a:r>
              <a:rPr sz="1600" b="1" i="0">
                <a:solidFill>
                  <a:srgbClr val="B85042"/>
                </a:solidFill>
                <a:latin typeface="Cambria"/>
              </a:rPr>
              <a:t>Over-performing is not one thing.</a:t>
            </a:r>
          </a:p>
        </p:txBody>
      </p:sp>
      <p:sp>
        <p:nvSpPr>
          <p:cNvPr id="6" name="TextBox 5"/>
          <p:cNvSpPr txBox="1"/>
          <p:nvPr/>
        </p:nvSpPr>
        <p:spPr>
          <a:xfrm>
            <a:off x="7973568" y="1298448"/>
            <a:ext cx="3648456" cy="536448"/>
          </a:xfrm>
          <a:prstGeom prst="rect">
            <a:avLst/>
          </a:prstGeom>
          <a:noFill/>
        </p:spPr>
        <p:txBody>
          <a:bodyPr wrap="square" lIns="0" rIns="0" tIns="0" bIns="0">
            <a:spAutoFit/>
          </a:bodyPr>
          <a:lstStyle/>
          <a:p>
            <a:pPr algn="l"/>
            <a:r>
              <a:rPr sz="3400" b="1" i="0">
                <a:solidFill>
                  <a:srgbClr val="B85042"/>
                </a:solidFill>
                <a:latin typeface="Cambria"/>
              </a:rPr>
              <a:t>15</a:t>
            </a:r>
          </a:p>
        </p:txBody>
      </p:sp>
      <p:sp>
        <p:nvSpPr>
          <p:cNvPr id="7" name="TextBox 6"/>
          <p:cNvSpPr txBox="1"/>
          <p:nvPr/>
        </p:nvSpPr>
        <p:spPr>
          <a:xfrm>
            <a:off x="7973568" y="1834896"/>
            <a:ext cx="3648456"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authorities in group 4: above prediction in English and below it in Mathematics and Science, a spread of 1.59 SD. Group 5 is its mirror image</a:t>
            </a:r>
          </a:p>
        </p:txBody>
      </p:sp>
      <p:sp>
        <p:nvSpPr>
          <p:cNvPr id="8" name="TextBox 7"/>
          <p:cNvSpPr txBox="1"/>
          <p:nvPr/>
        </p:nvSpPr>
        <p:spPr>
          <a:xfrm>
            <a:off x="7973568" y="2743200"/>
            <a:ext cx="3648456" cy="536448"/>
          </a:xfrm>
          <a:prstGeom prst="rect">
            <a:avLst/>
          </a:prstGeom>
          <a:noFill/>
        </p:spPr>
        <p:txBody>
          <a:bodyPr wrap="square" lIns="0" rIns="0" tIns="0" bIns="0">
            <a:spAutoFit/>
          </a:bodyPr>
          <a:lstStyle/>
          <a:p>
            <a:pPr algn="l"/>
            <a:r>
              <a:rPr sz="3400" b="1" i="0">
                <a:solidFill>
                  <a:srgbClr val="50808E"/>
                </a:solidFill>
                <a:latin typeface="Cambria"/>
              </a:rPr>
              <a:t>6 of 10</a:t>
            </a:r>
          </a:p>
        </p:txBody>
      </p:sp>
      <p:sp>
        <p:nvSpPr>
          <p:cNvPr id="9" name="TextBox 8"/>
          <p:cNvSpPr txBox="1"/>
          <p:nvPr/>
        </p:nvSpPr>
        <p:spPr>
          <a:xfrm>
            <a:off x="7973568" y="3279648"/>
            <a:ext cx="3648456" cy="685800"/>
          </a:xfrm>
          <a:prstGeom prst="rect">
            <a:avLst/>
          </a:prstGeom>
          <a:noFill/>
        </p:spPr>
        <p:txBody>
          <a:bodyPr wrap="square" lIns="0" rIns="0" tIns="0" bIns="0">
            <a:spAutoFit/>
          </a:bodyPr>
          <a:lstStyle/>
          <a:p>
            <a:pPr algn="l">
              <a:lnSpc>
                <a:spcPct val="105000"/>
              </a:lnSpc>
            </a:pPr>
            <a:r>
              <a:rPr sz="1100" b="0" i="0">
                <a:solidFill>
                  <a:srgbClr val="8A7F76"/>
                </a:solidFill>
                <a:latin typeface="Calibri"/>
              </a:rPr>
              <a:t>groups are tilted rather than flat. At k = 2 both groups are flat, so at that resolution the clustering adds nothing</a:t>
            </a:r>
          </a:p>
        </p:txBody>
      </p:sp>
      <p:sp>
        <p:nvSpPr>
          <p:cNvPr id="10" name="Rounded Rectangle 9"/>
          <p:cNvSpPr/>
          <p:nvPr/>
        </p:nvSpPr>
        <p:spPr>
          <a:xfrm>
            <a:off x="7973568" y="4206240"/>
            <a:ext cx="3648456" cy="160020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0" y="4389120"/>
            <a:ext cx="3136392" cy="1280160"/>
          </a:xfrm>
          <a:prstGeom prst="rect">
            <a:avLst/>
          </a:prstGeom>
          <a:noFill/>
        </p:spPr>
        <p:txBody>
          <a:bodyPr wrap="square" lIns="0" rIns="0" tIns="0" bIns="0">
            <a:spAutoFit/>
          </a:bodyPr>
          <a:lstStyle/>
          <a:p>
            <a:pPr algn="l">
              <a:lnSpc>
                <a:spcPct val="104000"/>
              </a:lnSpc>
            </a:pPr>
            <a:r>
              <a:rPr sz="1200" b="0" i="0">
                <a:solidFill>
                  <a:srgbClr val="33302E"/>
                </a:solidFill>
                <a:latin typeface="Calibri"/>
              </a:rPr>
              <a:t>A single gap per authority could never have shown this. For a policy reader it matters: an authority strong in English and weak in Mathematics needs something different from one that is uniformly behind.</a:t>
            </a:r>
          </a:p>
        </p:txBody>
      </p:sp>
      <p:sp>
        <p:nvSpPr>
          <p:cNvPr id="12" name="TextBox 11"/>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3" name="TextBox 12"/>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The twenty authorities that survive everything</a:t>
            </a:r>
          </a:p>
        </p:txBody>
      </p:sp>
      <p:sp>
        <p:nvSpPr>
          <p:cNvPr id="3" name="TextBox 2"/>
          <p:cNvSpPr txBox="1"/>
          <p:nvPr/>
        </p:nvSpPr>
        <p:spPr>
          <a:xfrm>
            <a:off x="566928" y="1143000"/>
            <a:ext cx="5376672" cy="292608"/>
          </a:xfrm>
          <a:prstGeom prst="rect">
            <a:avLst/>
          </a:prstGeom>
          <a:noFill/>
        </p:spPr>
        <p:txBody>
          <a:bodyPr wrap="square" lIns="0" rIns="0" tIns="0" bIns="0">
            <a:spAutoFit/>
          </a:bodyPr>
          <a:lstStyle/>
          <a:p>
            <a:pPr algn="l"/>
            <a:r>
              <a:rPr sz="1600" b="1" i="0">
                <a:solidFill>
                  <a:srgbClr val="7A4A3F"/>
                </a:solidFill>
                <a:latin typeface="Calibri"/>
              </a:rPr>
              <a:t>Over-performing: 13</a:t>
            </a:r>
          </a:p>
        </p:txBody>
      </p:sp>
      <p:graphicFrame>
        <p:nvGraphicFramePr>
          <p:cNvPr id="4" name="Table 3"/>
          <p:cNvGraphicFramePr>
            <a:graphicFrameLocks noGrp="1"/>
          </p:cNvGraphicFramePr>
          <p:nvPr/>
        </p:nvGraphicFramePr>
        <p:xfrm>
          <a:off x="566928" y="1536192"/>
          <a:ext cx="5376672" cy="3008376"/>
        </p:xfrm>
        <a:graphic>
          <a:graphicData uri="http://schemas.openxmlformats.org/drawingml/2006/table">
            <a:tbl>
              <a:tblPr firstRow="1">
                <a:tableStyleId>{5C22544A-7EE6-4342-B048-85BDC9FD1C3A}</a:tableStyleId>
              </a:tblPr>
              <a:tblGrid>
                <a:gridCol w="2907792"/>
                <a:gridCol w="914400"/>
                <a:gridCol w="1554480"/>
              </a:tblGrid>
              <a:tr h="214884">
                <a:tc>
                  <a:txBody>
                    <a:bodyPr/>
                    <a:lstStyle/>
                    <a:p>
                      <a:pPr algn="l"/>
                      <a:r>
                        <a:rPr sz="1100" b="1">
                          <a:solidFill>
                            <a:srgbClr val="33302E"/>
                          </a:solidFill>
                          <a:latin typeface="Calibri"/>
                        </a:rPr>
                        <a:t>Authority</a:t>
                      </a:r>
                    </a:p>
                  </a:txBody>
                  <a:tcPr marL="73152" marR="73152" marT="0" marB="0" anchor="ctr">
                    <a:solidFill>
                      <a:srgbClr val="A7BEAE"/>
                    </a:solidFill>
                  </a:tcPr>
                </a:tc>
                <a:tc>
                  <a:txBody>
                    <a:bodyPr/>
                    <a:lstStyle/>
                    <a:p>
                      <a:pPr algn="r"/>
                      <a:r>
                        <a:rPr sz="1100" b="1">
                          <a:solidFill>
                            <a:srgbClr val="33302E"/>
                          </a:solidFill>
                          <a:latin typeface="Calibri"/>
                        </a:rPr>
                        <a:t>Cluster</a:t>
                      </a:r>
                    </a:p>
                  </a:txBody>
                  <a:tcPr marL="73152" marR="73152" marT="0" marB="0" anchor="ctr">
                    <a:solidFill>
                      <a:srgbClr val="A7BEAE"/>
                    </a:solidFill>
                  </a:tcPr>
                </a:tc>
                <a:tc>
                  <a:txBody>
                    <a:bodyPr/>
                    <a:lstStyle/>
                    <a:p>
                      <a:pPr algn="r"/>
                      <a:r>
                        <a:rPr sz="1100" b="1">
                          <a:solidFill>
                            <a:srgbClr val="33302E"/>
                          </a:solidFill>
                          <a:latin typeface="Calibri"/>
                        </a:rPr>
                        <a:t>Mean gap</a:t>
                      </a:r>
                    </a:p>
                  </a:txBody>
                  <a:tcPr marL="73152" marR="73152" marT="0" marB="0" anchor="ctr">
                    <a:solidFill>
                      <a:srgbClr val="A7BEAE"/>
                    </a:solidFill>
                  </a:tcPr>
                </a:tc>
              </a:tr>
              <a:tr h="214884">
                <a:tc>
                  <a:txBody>
                    <a:bodyPr/>
                    <a:lstStyle/>
                    <a:p>
                      <a:pPr algn="l"/>
                      <a:r>
                        <a:rPr sz="1100" b="0">
                          <a:solidFill>
                            <a:srgbClr val="33302E"/>
                          </a:solidFill>
                          <a:latin typeface="Calibri"/>
                        </a:rPr>
                        <a:t>Kafar Yasif</a:t>
                      </a:r>
                    </a:p>
                  </a:txBody>
                  <a:tcPr marL="73152" marR="73152" marT="0" marB="0" anchor="ctr">
                    <a:solidFill>
                      <a:srgbClr val="FFFFFF"/>
                    </a:solidFill>
                  </a:tcPr>
                </a:tc>
                <a:tc>
                  <a:txBody>
                    <a:bodyPr/>
                    <a:lstStyle/>
                    <a:p>
                      <a:pPr algn="r"/>
                      <a:r>
                        <a:rPr sz="1100" b="0">
                          <a:solidFill>
                            <a:srgbClr val="33302E"/>
                          </a:solidFill>
                          <a:latin typeface="Calibri"/>
                        </a:rPr>
                        <a:t>4</a:t>
                      </a:r>
                    </a:p>
                  </a:txBody>
                  <a:tcPr marL="73152" marR="73152" marT="0" marB="0" anchor="ctr">
                    <a:solidFill>
                      <a:srgbClr val="FFFFFF"/>
                    </a:solidFill>
                  </a:tcPr>
                </a:tc>
                <a:tc>
                  <a:txBody>
                    <a:bodyPr/>
                    <a:lstStyle/>
                    <a:p>
                      <a:pPr algn="r"/>
                      <a:r>
                        <a:rPr sz="1100" b="0">
                          <a:solidFill>
                            <a:srgbClr val="33302E"/>
                          </a:solidFill>
                          <a:latin typeface="Calibri"/>
                        </a:rPr>
                        <a:t>+2.12</a:t>
                      </a:r>
                    </a:p>
                  </a:txBody>
                  <a:tcPr marL="73152" marR="73152" marT="0" marB="0" anchor="ctr">
                    <a:solidFill>
                      <a:srgbClr val="FFFFFF"/>
                    </a:solidFill>
                  </a:tcPr>
                </a:tc>
              </a:tr>
              <a:tr h="214884">
                <a:tc>
                  <a:txBody>
                    <a:bodyPr/>
                    <a:lstStyle/>
                    <a:p>
                      <a:pPr algn="l"/>
                      <a:r>
                        <a:rPr sz="1100" b="0">
                          <a:solidFill>
                            <a:srgbClr val="33302E"/>
                          </a:solidFill>
                          <a:latin typeface="Calibri"/>
                        </a:rPr>
                        <a:t>Har Hevron</a:t>
                      </a:r>
                    </a:p>
                  </a:txBody>
                  <a:tcPr marL="73152" marR="73152" marT="0" marB="0" anchor="ctr">
                    <a:solidFill>
                      <a:srgbClr val="FFFFFF"/>
                    </a:solidFill>
                  </a:tcPr>
                </a:tc>
                <a:tc>
                  <a:txBody>
                    <a:bodyPr/>
                    <a:lstStyle/>
                    <a:p>
                      <a:pPr algn="r"/>
                      <a:r>
                        <a:rPr sz="1100" b="0">
                          <a:solidFill>
                            <a:srgbClr val="33302E"/>
                          </a:solidFill>
                          <a:latin typeface="Calibri"/>
                        </a:rPr>
                        <a:t>5</a:t>
                      </a:r>
                    </a:p>
                  </a:txBody>
                  <a:tcPr marL="73152" marR="73152" marT="0" marB="0" anchor="ctr">
                    <a:solidFill>
                      <a:srgbClr val="FFFFFF"/>
                    </a:solidFill>
                  </a:tcPr>
                </a:tc>
                <a:tc>
                  <a:txBody>
                    <a:bodyPr/>
                    <a:lstStyle/>
                    <a:p>
                      <a:pPr algn="r"/>
                      <a:r>
                        <a:rPr sz="1100" b="0">
                          <a:solidFill>
                            <a:srgbClr val="33302E"/>
                          </a:solidFill>
                          <a:latin typeface="Calibri"/>
                        </a:rPr>
                        <a:t>+1.43</a:t>
                      </a:r>
                    </a:p>
                  </a:txBody>
                  <a:tcPr marL="73152" marR="73152" marT="0" marB="0" anchor="ctr">
                    <a:solidFill>
                      <a:srgbClr val="FFFFFF"/>
                    </a:solidFill>
                  </a:tcPr>
                </a:tc>
              </a:tr>
              <a:tr h="214884">
                <a:tc>
                  <a:txBody>
                    <a:bodyPr/>
                    <a:lstStyle/>
                    <a:p>
                      <a:pPr algn="l"/>
                      <a:r>
                        <a:rPr sz="1100" b="0">
                          <a:solidFill>
                            <a:srgbClr val="33302E"/>
                          </a:solidFill>
                          <a:latin typeface="Calibri"/>
                        </a:rPr>
                        <a:t>Giv'at Shemu'el</a:t>
                      </a:r>
                    </a:p>
                  </a:txBody>
                  <a:tcPr marL="73152" marR="73152" marT="0" marB="0" anchor="ctr">
                    <a:solidFill>
                      <a:srgbClr val="FFFFFF"/>
                    </a:solidFill>
                  </a:tcPr>
                </a:tc>
                <a:tc>
                  <a:txBody>
                    <a:bodyPr/>
                    <a:lstStyle/>
                    <a:p>
                      <a:pPr algn="r"/>
                      <a:r>
                        <a:rPr sz="1100" b="0">
                          <a:solidFill>
                            <a:srgbClr val="33302E"/>
                          </a:solidFill>
                          <a:latin typeface="Calibri"/>
                        </a:rPr>
                        <a:t>8</a:t>
                      </a:r>
                    </a:p>
                  </a:txBody>
                  <a:tcPr marL="73152" marR="73152" marT="0" marB="0" anchor="ctr">
                    <a:solidFill>
                      <a:srgbClr val="FFFFFF"/>
                    </a:solidFill>
                  </a:tcPr>
                </a:tc>
                <a:tc>
                  <a:txBody>
                    <a:bodyPr/>
                    <a:lstStyle/>
                    <a:p>
                      <a:pPr algn="r"/>
                      <a:r>
                        <a:rPr sz="1100" b="0">
                          <a:solidFill>
                            <a:srgbClr val="33302E"/>
                          </a:solidFill>
                          <a:latin typeface="Calibri"/>
                        </a:rPr>
                        <a:t>+1.40</a:t>
                      </a:r>
                    </a:p>
                  </a:txBody>
                  <a:tcPr marL="73152" marR="73152" marT="0" marB="0" anchor="ctr">
                    <a:solidFill>
                      <a:srgbClr val="FFFFFF"/>
                    </a:solidFill>
                  </a:tcPr>
                </a:tc>
              </a:tr>
              <a:tr h="214884">
                <a:tc>
                  <a:txBody>
                    <a:bodyPr/>
                    <a:lstStyle/>
                    <a:p>
                      <a:pPr algn="l"/>
                      <a:r>
                        <a:rPr sz="1100" b="0">
                          <a:solidFill>
                            <a:srgbClr val="33302E"/>
                          </a:solidFill>
                          <a:latin typeface="Calibri"/>
                        </a:rPr>
                        <a:t>Har Adar</a:t>
                      </a:r>
                    </a:p>
                  </a:txBody>
                  <a:tcPr marL="73152" marR="73152" marT="0" marB="0" anchor="ctr">
                    <a:solidFill>
                      <a:srgbClr val="FFFFFF"/>
                    </a:solidFill>
                  </a:tcPr>
                </a:tc>
                <a:tc>
                  <a:txBody>
                    <a:bodyPr/>
                    <a:lstStyle/>
                    <a:p>
                      <a:pPr algn="r"/>
                      <a:r>
                        <a:rPr sz="1100" b="0">
                          <a:solidFill>
                            <a:srgbClr val="33302E"/>
                          </a:solidFill>
                          <a:latin typeface="Calibri"/>
                        </a:rPr>
                        <a:t>9</a:t>
                      </a:r>
                    </a:p>
                  </a:txBody>
                  <a:tcPr marL="73152" marR="73152" marT="0" marB="0" anchor="ctr">
                    <a:solidFill>
                      <a:srgbClr val="FFFFFF"/>
                    </a:solidFill>
                  </a:tcPr>
                </a:tc>
                <a:tc>
                  <a:txBody>
                    <a:bodyPr/>
                    <a:lstStyle/>
                    <a:p>
                      <a:pPr algn="r"/>
                      <a:r>
                        <a:rPr sz="1100" b="0">
                          <a:solidFill>
                            <a:srgbClr val="33302E"/>
                          </a:solidFill>
                          <a:latin typeface="Calibri"/>
                        </a:rPr>
                        <a:t>+1.27</a:t>
                      </a:r>
                    </a:p>
                  </a:txBody>
                  <a:tcPr marL="73152" marR="73152" marT="0" marB="0" anchor="ctr">
                    <a:solidFill>
                      <a:srgbClr val="FFFFFF"/>
                    </a:solidFill>
                  </a:tcPr>
                </a:tc>
              </a:tr>
              <a:tr h="214884">
                <a:tc>
                  <a:txBody>
                    <a:bodyPr/>
                    <a:lstStyle/>
                    <a:p>
                      <a:pPr algn="l"/>
                      <a:r>
                        <a:rPr sz="1100" b="0">
                          <a:solidFill>
                            <a:srgbClr val="33302E"/>
                          </a:solidFill>
                          <a:latin typeface="Calibri"/>
                        </a:rPr>
                        <a:t>Yirka</a:t>
                      </a:r>
                    </a:p>
                  </a:txBody>
                  <a:tcPr marL="73152" marR="73152" marT="0" marB="0" anchor="ctr">
                    <a:solidFill>
                      <a:srgbClr val="FFFFFF"/>
                    </a:solidFill>
                  </a:tcPr>
                </a:tc>
                <a:tc>
                  <a:txBody>
                    <a:bodyPr/>
                    <a:lstStyle/>
                    <a:p>
                      <a:pPr algn="r"/>
                      <a:r>
                        <a:rPr sz="1100" b="0">
                          <a:solidFill>
                            <a:srgbClr val="33302E"/>
                          </a:solidFill>
                          <a:latin typeface="Calibri"/>
                        </a:rPr>
                        <a:t>3</a:t>
                      </a:r>
                    </a:p>
                  </a:txBody>
                  <a:tcPr marL="73152" marR="73152" marT="0" marB="0" anchor="ctr">
                    <a:solidFill>
                      <a:srgbClr val="FFFFFF"/>
                    </a:solidFill>
                  </a:tcPr>
                </a:tc>
                <a:tc>
                  <a:txBody>
                    <a:bodyPr/>
                    <a:lstStyle/>
                    <a:p>
                      <a:pPr algn="r"/>
                      <a:r>
                        <a:rPr sz="1100" b="0">
                          <a:solidFill>
                            <a:srgbClr val="33302E"/>
                          </a:solidFill>
                          <a:latin typeface="Calibri"/>
                        </a:rPr>
                        <a:t>+1.25</a:t>
                      </a:r>
                    </a:p>
                  </a:txBody>
                  <a:tcPr marL="73152" marR="73152" marT="0" marB="0" anchor="ctr">
                    <a:solidFill>
                      <a:srgbClr val="FFFFFF"/>
                    </a:solidFill>
                  </a:tcPr>
                </a:tc>
              </a:tr>
              <a:tr h="214884">
                <a:tc>
                  <a:txBody>
                    <a:bodyPr/>
                    <a:lstStyle/>
                    <a:p>
                      <a:pPr algn="l"/>
                      <a:r>
                        <a:rPr sz="1100" b="0">
                          <a:solidFill>
                            <a:srgbClr val="33302E"/>
                          </a:solidFill>
                          <a:latin typeface="Calibri"/>
                        </a:rPr>
                        <a:t>Kisra-Sumei</a:t>
                      </a:r>
                    </a:p>
                  </a:txBody>
                  <a:tcPr marL="73152" marR="73152" marT="0" marB="0" anchor="ctr">
                    <a:solidFill>
                      <a:srgbClr val="FFFFFF"/>
                    </a:solidFill>
                  </a:tcPr>
                </a:tc>
                <a:tc>
                  <a:txBody>
                    <a:bodyPr/>
                    <a:lstStyle/>
                    <a:p>
                      <a:pPr algn="r"/>
                      <a:r>
                        <a:rPr sz="1100" b="0">
                          <a:solidFill>
                            <a:srgbClr val="33302E"/>
                          </a:solidFill>
                          <a:latin typeface="Calibri"/>
                        </a:rPr>
                        <a:t>3</a:t>
                      </a:r>
                    </a:p>
                  </a:txBody>
                  <a:tcPr marL="73152" marR="73152" marT="0" marB="0" anchor="ctr">
                    <a:solidFill>
                      <a:srgbClr val="FFFFFF"/>
                    </a:solidFill>
                  </a:tcPr>
                </a:tc>
                <a:tc>
                  <a:txBody>
                    <a:bodyPr/>
                    <a:lstStyle/>
                    <a:p>
                      <a:pPr algn="r"/>
                      <a:r>
                        <a:rPr sz="1100" b="0">
                          <a:solidFill>
                            <a:srgbClr val="33302E"/>
                          </a:solidFill>
                          <a:latin typeface="Calibri"/>
                        </a:rPr>
                        <a:t>+1.00</a:t>
                      </a:r>
                    </a:p>
                  </a:txBody>
                  <a:tcPr marL="73152" marR="73152" marT="0" marB="0" anchor="ctr">
                    <a:solidFill>
                      <a:srgbClr val="FFFFFF"/>
                    </a:solidFill>
                  </a:tcPr>
                </a:tc>
              </a:tr>
              <a:tr h="214884">
                <a:tc>
                  <a:txBody>
                    <a:bodyPr/>
                    <a:lstStyle/>
                    <a:p>
                      <a:pPr algn="l"/>
                      <a:r>
                        <a:rPr sz="1100" b="0">
                          <a:solidFill>
                            <a:srgbClr val="33302E"/>
                          </a:solidFill>
                          <a:latin typeface="Calibri"/>
                        </a:rPr>
                        <a:t>Arrabe</a:t>
                      </a:r>
                    </a:p>
                  </a:txBody>
                  <a:tcPr marL="73152" marR="73152" marT="0" marB="0" anchor="ctr">
                    <a:solidFill>
                      <a:srgbClr val="FFFFFF"/>
                    </a:solidFill>
                  </a:tcPr>
                </a:tc>
                <a:tc>
                  <a:txBody>
                    <a:bodyPr/>
                    <a:lstStyle/>
                    <a:p>
                      <a:pPr algn="r"/>
                      <a:r>
                        <a:rPr sz="1100" b="0">
                          <a:solidFill>
                            <a:srgbClr val="33302E"/>
                          </a:solidFill>
                          <a:latin typeface="Calibri"/>
                        </a:rPr>
                        <a:t>3</a:t>
                      </a:r>
                    </a:p>
                  </a:txBody>
                  <a:tcPr marL="73152" marR="73152" marT="0" marB="0" anchor="ctr">
                    <a:solidFill>
                      <a:srgbClr val="FFFFFF"/>
                    </a:solidFill>
                  </a:tcPr>
                </a:tc>
                <a:tc>
                  <a:txBody>
                    <a:bodyPr/>
                    <a:lstStyle/>
                    <a:p>
                      <a:pPr algn="r"/>
                      <a:r>
                        <a:rPr sz="1100" b="0">
                          <a:solidFill>
                            <a:srgbClr val="33302E"/>
                          </a:solidFill>
                          <a:latin typeface="Calibri"/>
                        </a:rPr>
                        <a:t>+0.99</a:t>
                      </a:r>
                    </a:p>
                  </a:txBody>
                  <a:tcPr marL="73152" marR="73152" marT="0" marB="0" anchor="ctr">
                    <a:solidFill>
                      <a:srgbClr val="FFFFFF"/>
                    </a:solidFill>
                  </a:tcPr>
                </a:tc>
              </a:tr>
              <a:tr h="214884">
                <a:tc>
                  <a:txBody>
                    <a:bodyPr/>
                    <a:lstStyle/>
                    <a:p>
                      <a:pPr algn="l"/>
                      <a:r>
                        <a:rPr sz="1100" b="0">
                          <a:solidFill>
                            <a:srgbClr val="33302E"/>
                          </a:solidFill>
                          <a:latin typeface="Calibri"/>
                        </a:rPr>
                        <a:t>Bet Dagan</a:t>
                      </a:r>
                    </a:p>
                  </a:txBody>
                  <a:tcPr marL="73152" marR="73152" marT="0" marB="0" anchor="ctr">
                    <a:solidFill>
                      <a:srgbClr val="FFFFFF"/>
                    </a:solidFill>
                  </a:tcPr>
                </a:tc>
                <a:tc>
                  <a:txBody>
                    <a:bodyPr/>
                    <a:lstStyle/>
                    <a:p>
                      <a:pPr algn="r"/>
                      <a:r>
                        <a:rPr sz="1100" b="0">
                          <a:solidFill>
                            <a:srgbClr val="33302E"/>
                          </a:solidFill>
                          <a:latin typeface="Calibri"/>
                        </a:rPr>
                        <a:t>7</a:t>
                      </a:r>
                    </a:p>
                  </a:txBody>
                  <a:tcPr marL="73152" marR="73152" marT="0" marB="0" anchor="ctr">
                    <a:solidFill>
                      <a:srgbClr val="FFFFFF"/>
                    </a:solidFill>
                  </a:tcPr>
                </a:tc>
                <a:tc>
                  <a:txBody>
                    <a:bodyPr/>
                    <a:lstStyle/>
                    <a:p>
                      <a:pPr algn="r"/>
                      <a:r>
                        <a:rPr sz="1100" b="0">
                          <a:solidFill>
                            <a:srgbClr val="33302E"/>
                          </a:solidFill>
                          <a:latin typeface="Calibri"/>
                        </a:rPr>
                        <a:t>+0.96</a:t>
                      </a:r>
                    </a:p>
                  </a:txBody>
                  <a:tcPr marL="73152" marR="73152" marT="0" marB="0" anchor="ctr">
                    <a:solidFill>
                      <a:srgbClr val="FFFFFF"/>
                    </a:solidFill>
                  </a:tcPr>
                </a:tc>
              </a:tr>
              <a:tr h="214884">
                <a:tc>
                  <a:txBody>
                    <a:bodyPr/>
                    <a:lstStyle/>
                    <a:p>
                      <a:pPr algn="l"/>
                      <a:r>
                        <a:rPr sz="1100" b="0">
                          <a:solidFill>
                            <a:srgbClr val="33302E"/>
                          </a:solidFill>
                          <a:latin typeface="Calibri"/>
                        </a:rPr>
                        <a:t>Yoqne'am Illit</a:t>
                      </a:r>
                    </a:p>
                  </a:txBody>
                  <a:tcPr marL="73152" marR="73152" marT="0" marB="0" anchor="ctr">
                    <a:solidFill>
                      <a:srgbClr val="FFFFFF"/>
                    </a:solidFill>
                  </a:tcPr>
                </a:tc>
                <a:tc>
                  <a:txBody>
                    <a:bodyPr/>
                    <a:lstStyle/>
                    <a:p>
                      <a:pPr algn="r"/>
                      <a:r>
                        <a:rPr sz="1100" b="0">
                          <a:solidFill>
                            <a:srgbClr val="33302E"/>
                          </a:solidFill>
                          <a:latin typeface="Calibri"/>
                        </a:rPr>
                        <a:t>7</a:t>
                      </a:r>
                    </a:p>
                  </a:txBody>
                  <a:tcPr marL="73152" marR="73152" marT="0" marB="0" anchor="ctr">
                    <a:solidFill>
                      <a:srgbClr val="FFFFFF"/>
                    </a:solidFill>
                  </a:tcPr>
                </a:tc>
                <a:tc>
                  <a:txBody>
                    <a:bodyPr/>
                    <a:lstStyle/>
                    <a:p>
                      <a:pPr algn="r"/>
                      <a:r>
                        <a:rPr sz="1100" b="0">
                          <a:solidFill>
                            <a:srgbClr val="33302E"/>
                          </a:solidFill>
                          <a:latin typeface="Calibri"/>
                        </a:rPr>
                        <a:t>+0.91</a:t>
                      </a:r>
                    </a:p>
                  </a:txBody>
                  <a:tcPr marL="73152" marR="73152" marT="0" marB="0" anchor="ctr">
                    <a:solidFill>
                      <a:srgbClr val="FFFFFF"/>
                    </a:solidFill>
                  </a:tcPr>
                </a:tc>
              </a:tr>
              <a:tr h="214884">
                <a:tc>
                  <a:txBody>
                    <a:bodyPr/>
                    <a:lstStyle/>
                    <a:p>
                      <a:pPr algn="l"/>
                      <a:r>
                        <a:rPr sz="1100" b="0">
                          <a:solidFill>
                            <a:srgbClr val="33302E"/>
                          </a:solidFill>
                          <a:latin typeface="Calibri"/>
                        </a:rPr>
                        <a:t>Tel Mond</a:t>
                      </a:r>
                    </a:p>
                  </a:txBody>
                  <a:tcPr marL="73152" marR="73152" marT="0" marB="0" anchor="ctr">
                    <a:solidFill>
                      <a:srgbClr val="FFFFFF"/>
                    </a:solidFill>
                  </a:tcPr>
                </a:tc>
                <a:tc>
                  <a:txBody>
                    <a:bodyPr/>
                    <a:lstStyle/>
                    <a:p>
                      <a:pPr algn="r"/>
                      <a:r>
                        <a:rPr sz="1100" b="0">
                          <a:solidFill>
                            <a:srgbClr val="33302E"/>
                          </a:solidFill>
                          <a:latin typeface="Calibri"/>
                        </a:rPr>
                        <a:t>9</a:t>
                      </a:r>
                    </a:p>
                  </a:txBody>
                  <a:tcPr marL="73152" marR="73152" marT="0" marB="0" anchor="ctr">
                    <a:solidFill>
                      <a:srgbClr val="FFFFFF"/>
                    </a:solidFill>
                  </a:tcPr>
                </a:tc>
                <a:tc>
                  <a:txBody>
                    <a:bodyPr/>
                    <a:lstStyle/>
                    <a:p>
                      <a:pPr algn="r"/>
                      <a:r>
                        <a:rPr sz="1100" b="0">
                          <a:solidFill>
                            <a:srgbClr val="33302E"/>
                          </a:solidFill>
                          <a:latin typeface="Calibri"/>
                        </a:rPr>
                        <a:t>+0.87</a:t>
                      </a:r>
                    </a:p>
                  </a:txBody>
                  <a:tcPr marL="73152" marR="73152" marT="0" marB="0" anchor="ctr">
                    <a:solidFill>
                      <a:srgbClr val="FFFFFF"/>
                    </a:solidFill>
                  </a:tcPr>
                </a:tc>
              </a:tr>
              <a:tr h="214884">
                <a:tc>
                  <a:txBody>
                    <a:bodyPr/>
                    <a:lstStyle/>
                    <a:p>
                      <a:pPr algn="l"/>
                      <a:r>
                        <a:rPr sz="1100" b="0">
                          <a:solidFill>
                            <a:srgbClr val="33302E"/>
                          </a:solidFill>
                          <a:latin typeface="Calibri"/>
                        </a:rPr>
                        <a:t>Efrat</a:t>
                      </a:r>
                    </a:p>
                  </a:txBody>
                  <a:tcPr marL="73152" marR="73152" marT="0" marB="0" anchor="ctr">
                    <a:solidFill>
                      <a:srgbClr val="FFFFFF"/>
                    </a:solidFill>
                  </a:tcPr>
                </a:tc>
                <a:tc>
                  <a:txBody>
                    <a:bodyPr/>
                    <a:lstStyle/>
                    <a:p>
                      <a:pPr algn="r"/>
                      <a:r>
                        <a:rPr sz="1100" b="0">
                          <a:solidFill>
                            <a:srgbClr val="33302E"/>
                          </a:solidFill>
                          <a:latin typeface="Calibri"/>
                        </a:rPr>
                        <a:t>7</a:t>
                      </a:r>
                    </a:p>
                  </a:txBody>
                  <a:tcPr marL="73152" marR="73152" marT="0" marB="0" anchor="ctr">
                    <a:solidFill>
                      <a:srgbClr val="FFFFFF"/>
                    </a:solidFill>
                  </a:tcPr>
                </a:tc>
                <a:tc>
                  <a:txBody>
                    <a:bodyPr/>
                    <a:lstStyle/>
                    <a:p>
                      <a:pPr algn="r"/>
                      <a:r>
                        <a:rPr sz="1100" b="0">
                          <a:solidFill>
                            <a:srgbClr val="33302E"/>
                          </a:solidFill>
                          <a:latin typeface="Calibri"/>
                        </a:rPr>
                        <a:t>+0.79</a:t>
                      </a:r>
                    </a:p>
                  </a:txBody>
                  <a:tcPr marL="73152" marR="73152" marT="0" marB="0" anchor="ctr">
                    <a:solidFill>
                      <a:srgbClr val="FFFFFF"/>
                    </a:solidFill>
                  </a:tcPr>
                </a:tc>
              </a:tr>
              <a:tr h="214884">
                <a:tc>
                  <a:txBody>
                    <a:bodyPr/>
                    <a:lstStyle/>
                    <a:p>
                      <a:pPr algn="l"/>
                      <a:r>
                        <a:rPr sz="1100" b="0">
                          <a:solidFill>
                            <a:srgbClr val="33302E"/>
                          </a:solidFill>
                          <a:latin typeface="Calibri"/>
                        </a:rPr>
                        <a:t>Binyamina-Giv'at Ada</a:t>
                      </a:r>
                    </a:p>
                  </a:txBody>
                  <a:tcPr marL="73152" marR="73152" marT="0" marB="0" anchor="ctr">
                    <a:solidFill>
                      <a:srgbClr val="FFFFFF"/>
                    </a:solidFill>
                  </a:tcPr>
                </a:tc>
                <a:tc>
                  <a:txBody>
                    <a:bodyPr/>
                    <a:lstStyle/>
                    <a:p>
                      <a:pPr algn="r"/>
                      <a:r>
                        <a:rPr sz="1100" b="0">
                          <a:solidFill>
                            <a:srgbClr val="33302E"/>
                          </a:solidFill>
                          <a:latin typeface="Calibri"/>
                        </a:rPr>
                        <a:t>9</a:t>
                      </a:r>
                    </a:p>
                  </a:txBody>
                  <a:tcPr marL="73152" marR="73152" marT="0" marB="0" anchor="ctr">
                    <a:solidFill>
                      <a:srgbClr val="FFFFFF"/>
                    </a:solidFill>
                  </a:tcPr>
                </a:tc>
                <a:tc>
                  <a:txBody>
                    <a:bodyPr/>
                    <a:lstStyle/>
                    <a:p>
                      <a:pPr algn="r"/>
                      <a:r>
                        <a:rPr sz="1100" b="0">
                          <a:solidFill>
                            <a:srgbClr val="33302E"/>
                          </a:solidFill>
                          <a:latin typeface="Calibri"/>
                        </a:rPr>
                        <a:t>+0.68</a:t>
                      </a:r>
                    </a:p>
                  </a:txBody>
                  <a:tcPr marL="73152" marR="73152" marT="0" marB="0" anchor="ctr">
                    <a:solidFill>
                      <a:srgbClr val="FFFFFF"/>
                    </a:solidFill>
                  </a:tcPr>
                </a:tc>
              </a:tr>
              <a:tr h="214884">
                <a:tc>
                  <a:txBody>
                    <a:bodyPr/>
                    <a:lstStyle/>
                    <a:p>
                      <a:pPr algn="l"/>
                      <a:r>
                        <a:rPr sz="1100" b="0">
                          <a:solidFill>
                            <a:srgbClr val="33302E"/>
                          </a:solidFill>
                          <a:latin typeface="Calibri"/>
                        </a:rPr>
                        <a:t>Qiryat Yam</a:t>
                      </a:r>
                    </a:p>
                  </a:txBody>
                  <a:tcPr marL="73152" marR="73152" marT="0" marB="0" anchor="ctr">
                    <a:solidFill>
                      <a:srgbClr val="FFFFFF"/>
                    </a:solidFill>
                  </a:tcPr>
                </a:tc>
                <a:tc>
                  <a:txBody>
                    <a:bodyPr/>
                    <a:lstStyle/>
                    <a:p>
                      <a:pPr algn="r"/>
                      <a:r>
                        <a:rPr sz="1100" b="0">
                          <a:solidFill>
                            <a:srgbClr val="33302E"/>
                          </a:solidFill>
                          <a:latin typeface="Calibri"/>
                        </a:rPr>
                        <a:t>5</a:t>
                      </a:r>
                    </a:p>
                  </a:txBody>
                  <a:tcPr marL="73152" marR="73152" marT="0" marB="0" anchor="ctr">
                    <a:solidFill>
                      <a:srgbClr val="FFFFFF"/>
                    </a:solidFill>
                  </a:tcPr>
                </a:tc>
                <a:tc>
                  <a:txBody>
                    <a:bodyPr/>
                    <a:lstStyle/>
                    <a:p>
                      <a:pPr algn="r"/>
                      <a:r>
                        <a:rPr sz="1100" b="0">
                          <a:solidFill>
                            <a:srgbClr val="33302E"/>
                          </a:solidFill>
                          <a:latin typeface="Calibri"/>
                        </a:rPr>
                        <a:t>+0.55</a:t>
                      </a:r>
                    </a:p>
                  </a:txBody>
                  <a:tcPr marL="73152" marR="73152" marT="0" marB="0" anchor="ctr">
                    <a:solidFill>
                      <a:srgbClr val="FFFFFF"/>
                    </a:solidFill>
                  </a:tcPr>
                </a:tc>
              </a:tr>
            </a:tbl>
          </a:graphicData>
        </a:graphic>
      </p:graphicFrame>
      <p:sp>
        <p:nvSpPr>
          <p:cNvPr id="5" name="TextBox 4"/>
          <p:cNvSpPr txBox="1"/>
          <p:nvPr/>
        </p:nvSpPr>
        <p:spPr>
          <a:xfrm>
            <a:off x="6245352" y="1143000"/>
            <a:ext cx="5376672" cy="292608"/>
          </a:xfrm>
          <a:prstGeom prst="rect">
            <a:avLst/>
          </a:prstGeom>
          <a:noFill/>
        </p:spPr>
        <p:txBody>
          <a:bodyPr wrap="square" lIns="0" rIns="0" tIns="0" bIns="0">
            <a:spAutoFit/>
          </a:bodyPr>
          <a:lstStyle/>
          <a:p>
            <a:pPr algn="l"/>
            <a:r>
              <a:rPr sz="1600" b="1" i="0">
                <a:solidFill>
                  <a:srgbClr val="7A4A3F"/>
                </a:solidFill>
                <a:latin typeface="Calibri"/>
              </a:rPr>
              <a:t>Under-performing: 7</a:t>
            </a:r>
          </a:p>
        </p:txBody>
      </p:sp>
      <p:graphicFrame>
        <p:nvGraphicFramePr>
          <p:cNvPr id="6" name="Table 5"/>
          <p:cNvGraphicFramePr>
            <a:graphicFrameLocks noGrp="1"/>
          </p:cNvGraphicFramePr>
          <p:nvPr/>
        </p:nvGraphicFramePr>
        <p:xfrm>
          <a:off x="6245352" y="1536192"/>
          <a:ext cx="5376672" cy="1719072"/>
        </p:xfrm>
        <a:graphic>
          <a:graphicData uri="http://schemas.openxmlformats.org/drawingml/2006/table">
            <a:tbl>
              <a:tblPr firstRow="1">
                <a:tableStyleId>{5C22544A-7EE6-4342-B048-85BDC9FD1C3A}</a:tableStyleId>
              </a:tblPr>
              <a:tblGrid>
                <a:gridCol w="2907792"/>
                <a:gridCol w="914400"/>
                <a:gridCol w="1554480"/>
              </a:tblGrid>
              <a:tr h="214884">
                <a:tc>
                  <a:txBody>
                    <a:bodyPr/>
                    <a:lstStyle/>
                    <a:p>
                      <a:pPr algn="l"/>
                      <a:r>
                        <a:rPr sz="1100" b="1">
                          <a:solidFill>
                            <a:srgbClr val="FFFFFF"/>
                          </a:solidFill>
                          <a:latin typeface="Calibri"/>
                        </a:rPr>
                        <a:t>Authority</a:t>
                      </a:r>
                    </a:p>
                  </a:txBody>
                  <a:tcPr marL="73152" marR="73152" marT="0" marB="0" anchor="ctr">
                    <a:solidFill>
                      <a:srgbClr val="B85042"/>
                    </a:solidFill>
                  </a:tcPr>
                </a:tc>
                <a:tc>
                  <a:txBody>
                    <a:bodyPr/>
                    <a:lstStyle/>
                    <a:p>
                      <a:pPr algn="r"/>
                      <a:r>
                        <a:rPr sz="1100" b="1">
                          <a:solidFill>
                            <a:srgbClr val="FFFFFF"/>
                          </a:solidFill>
                          <a:latin typeface="Calibri"/>
                        </a:rPr>
                        <a:t>Cluster</a:t>
                      </a:r>
                    </a:p>
                  </a:txBody>
                  <a:tcPr marL="73152" marR="73152" marT="0" marB="0" anchor="ctr">
                    <a:solidFill>
                      <a:srgbClr val="B85042"/>
                    </a:solidFill>
                  </a:tcPr>
                </a:tc>
                <a:tc>
                  <a:txBody>
                    <a:bodyPr/>
                    <a:lstStyle/>
                    <a:p>
                      <a:pPr algn="r"/>
                      <a:r>
                        <a:rPr sz="1100" b="1">
                          <a:solidFill>
                            <a:srgbClr val="FFFFFF"/>
                          </a:solidFill>
                          <a:latin typeface="Calibri"/>
                        </a:rPr>
                        <a:t>Mean gap</a:t>
                      </a:r>
                    </a:p>
                  </a:txBody>
                  <a:tcPr marL="73152" marR="73152" marT="0" marB="0" anchor="ctr">
                    <a:solidFill>
                      <a:srgbClr val="B85042"/>
                    </a:solidFill>
                  </a:tcPr>
                </a:tc>
              </a:tr>
              <a:tr h="214884">
                <a:tc>
                  <a:txBody>
                    <a:bodyPr/>
                    <a:lstStyle/>
                    <a:p>
                      <a:pPr algn="l"/>
                      <a:r>
                        <a:rPr sz="1100" b="0">
                          <a:solidFill>
                            <a:srgbClr val="33302E"/>
                          </a:solidFill>
                          <a:latin typeface="Calibri"/>
                        </a:rPr>
                        <a:t>Laqye</a:t>
                      </a:r>
                    </a:p>
                  </a:txBody>
                  <a:tcPr marL="73152" marR="73152" marT="0" marB="0" anchor="ctr">
                    <a:solidFill>
                      <a:srgbClr val="FFFFFF"/>
                    </a:solidFill>
                  </a:tcPr>
                </a:tc>
                <a:tc>
                  <a:txBody>
                    <a:bodyPr/>
                    <a:lstStyle/>
                    <a:p>
                      <a:pPr algn="r"/>
                      <a:r>
                        <a:rPr sz="1100" b="0">
                          <a:solidFill>
                            <a:srgbClr val="33302E"/>
                          </a:solidFill>
                          <a:latin typeface="Calibri"/>
                        </a:rPr>
                        <a:t>1</a:t>
                      </a:r>
                    </a:p>
                  </a:txBody>
                  <a:tcPr marL="73152" marR="73152" marT="0" marB="0" anchor="ctr">
                    <a:solidFill>
                      <a:srgbClr val="FFFFFF"/>
                    </a:solidFill>
                  </a:tcPr>
                </a:tc>
                <a:tc>
                  <a:txBody>
                    <a:bodyPr/>
                    <a:lstStyle/>
                    <a:p>
                      <a:pPr algn="r"/>
                      <a:r>
                        <a:rPr sz="1100" b="0">
                          <a:solidFill>
                            <a:srgbClr val="33302E"/>
                          </a:solidFill>
                          <a:latin typeface="Calibri"/>
                        </a:rPr>
                        <a:t>-2.08</a:t>
                      </a:r>
                    </a:p>
                  </a:txBody>
                  <a:tcPr marL="73152" marR="73152" marT="0" marB="0" anchor="ctr">
                    <a:solidFill>
                      <a:srgbClr val="FFFFFF"/>
                    </a:solidFill>
                  </a:tcPr>
                </a:tc>
              </a:tr>
              <a:tr h="214884">
                <a:tc>
                  <a:txBody>
                    <a:bodyPr/>
                    <a:lstStyle/>
                    <a:p>
                      <a:pPr algn="l"/>
                      <a:r>
                        <a:rPr sz="1100" b="0">
                          <a:solidFill>
                            <a:srgbClr val="33302E"/>
                          </a:solidFill>
                          <a:latin typeface="Calibri"/>
                        </a:rPr>
                        <a:t>Jisr az-Zarqa</a:t>
                      </a:r>
                    </a:p>
                  </a:txBody>
                  <a:tcPr marL="73152" marR="73152" marT="0" marB="0" anchor="ctr">
                    <a:solidFill>
                      <a:srgbClr val="FFFFFF"/>
                    </a:solidFill>
                  </a:tcPr>
                </a:tc>
                <a:tc>
                  <a:txBody>
                    <a:bodyPr/>
                    <a:lstStyle/>
                    <a:p>
                      <a:pPr algn="r"/>
                      <a:r>
                        <a:rPr sz="1100" b="0">
                          <a:solidFill>
                            <a:srgbClr val="33302E"/>
                          </a:solidFill>
                          <a:latin typeface="Calibri"/>
                        </a:rPr>
                        <a:t>2</a:t>
                      </a:r>
                    </a:p>
                  </a:txBody>
                  <a:tcPr marL="73152" marR="73152" marT="0" marB="0" anchor="ctr">
                    <a:solidFill>
                      <a:srgbClr val="FFFFFF"/>
                    </a:solidFill>
                  </a:tcPr>
                </a:tc>
                <a:tc>
                  <a:txBody>
                    <a:bodyPr/>
                    <a:lstStyle/>
                    <a:p>
                      <a:pPr algn="r"/>
                      <a:r>
                        <a:rPr sz="1100" b="0">
                          <a:solidFill>
                            <a:srgbClr val="33302E"/>
                          </a:solidFill>
                          <a:latin typeface="Calibri"/>
                        </a:rPr>
                        <a:t>-1.88</a:t>
                      </a:r>
                    </a:p>
                  </a:txBody>
                  <a:tcPr marL="73152" marR="73152" marT="0" marB="0" anchor="ctr">
                    <a:solidFill>
                      <a:srgbClr val="FFFFFF"/>
                    </a:solidFill>
                  </a:tcPr>
                </a:tc>
              </a:tr>
              <a:tr h="214884">
                <a:tc>
                  <a:txBody>
                    <a:bodyPr/>
                    <a:lstStyle/>
                    <a:p>
                      <a:pPr algn="l"/>
                      <a:r>
                        <a:rPr sz="1100" b="0">
                          <a:solidFill>
                            <a:srgbClr val="33302E"/>
                          </a:solidFill>
                          <a:latin typeface="Calibri"/>
                        </a:rPr>
                        <a:t>Basmat Tab'un</a:t>
                      </a:r>
                    </a:p>
                  </a:txBody>
                  <a:tcPr marL="73152" marR="73152" marT="0" marB="0" anchor="ctr">
                    <a:solidFill>
                      <a:srgbClr val="FFFFFF"/>
                    </a:solidFill>
                  </a:tcPr>
                </a:tc>
                <a:tc>
                  <a:txBody>
                    <a:bodyPr/>
                    <a:lstStyle/>
                    <a:p>
                      <a:pPr algn="r"/>
                      <a:r>
                        <a:rPr sz="1100" b="0">
                          <a:solidFill>
                            <a:srgbClr val="33302E"/>
                          </a:solidFill>
                          <a:latin typeface="Calibri"/>
                        </a:rPr>
                        <a:t>3</a:t>
                      </a:r>
                    </a:p>
                  </a:txBody>
                  <a:tcPr marL="73152" marR="73152" marT="0" marB="0" anchor="ctr">
                    <a:solidFill>
                      <a:srgbClr val="FFFFFF"/>
                    </a:solidFill>
                  </a:tcPr>
                </a:tc>
                <a:tc>
                  <a:txBody>
                    <a:bodyPr/>
                    <a:lstStyle/>
                    <a:p>
                      <a:pPr algn="r"/>
                      <a:r>
                        <a:rPr sz="1100" b="0">
                          <a:solidFill>
                            <a:srgbClr val="33302E"/>
                          </a:solidFill>
                          <a:latin typeface="Calibri"/>
                        </a:rPr>
                        <a:t>-1.83</a:t>
                      </a:r>
                    </a:p>
                  </a:txBody>
                  <a:tcPr marL="73152" marR="73152" marT="0" marB="0" anchor="ctr">
                    <a:solidFill>
                      <a:srgbClr val="FFFFFF"/>
                    </a:solidFill>
                  </a:tcPr>
                </a:tc>
              </a:tr>
              <a:tr h="214884">
                <a:tc>
                  <a:txBody>
                    <a:bodyPr/>
                    <a:lstStyle/>
                    <a:p>
                      <a:pPr algn="l"/>
                      <a:r>
                        <a:rPr sz="1100" b="0">
                          <a:solidFill>
                            <a:srgbClr val="33302E"/>
                          </a:solidFill>
                          <a:latin typeface="Calibri"/>
                        </a:rPr>
                        <a:t>Hagalil Haelyon</a:t>
                      </a:r>
                    </a:p>
                  </a:txBody>
                  <a:tcPr marL="73152" marR="73152" marT="0" marB="0" anchor="ctr">
                    <a:solidFill>
                      <a:srgbClr val="FFFFFF"/>
                    </a:solidFill>
                  </a:tcPr>
                </a:tc>
                <a:tc>
                  <a:txBody>
                    <a:bodyPr/>
                    <a:lstStyle/>
                    <a:p>
                      <a:pPr algn="r"/>
                      <a:r>
                        <a:rPr sz="1100" b="0">
                          <a:solidFill>
                            <a:srgbClr val="33302E"/>
                          </a:solidFill>
                          <a:latin typeface="Calibri"/>
                        </a:rPr>
                        <a:t>7</a:t>
                      </a:r>
                    </a:p>
                  </a:txBody>
                  <a:tcPr marL="73152" marR="73152" marT="0" marB="0" anchor="ctr">
                    <a:solidFill>
                      <a:srgbClr val="FFFFFF"/>
                    </a:solidFill>
                  </a:tcPr>
                </a:tc>
                <a:tc>
                  <a:txBody>
                    <a:bodyPr/>
                    <a:lstStyle/>
                    <a:p>
                      <a:pPr algn="r"/>
                      <a:r>
                        <a:rPr sz="1100" b="0">
                          <a:solidFill>
                            <a:srgbClr val="33302E"/>
                          </a:solidFill>
                          <a:latin typeface="Calibri"/>
                        </a:rPr>
                        <a:t>-1.69</a:t>
                      </a:r>
                    </a:p>
                  </a:txBody>
                  <a:tcPr marL="73152" marR="73152" marT="0" marB="0" anchor="ctr">
                    <a:solidFill>
                      <a:srgbClr val="FFFFFF"/>
                    </a:solidFill>
                  </a:tcPr>
                </a:tc>
              </a:tr>
              <a:tr h="214884">
                <a:tc>
                  <a:txBody>
                    <a:bodyPr/>
                    <a:lstStyle/>
                    <a:p>
                      <a:pPr algn="l"/>
                      <a:r>
                        <a:rPr sz="1100" b="0">
                          <a:solidFill>
                            <a:srgbClr val="33302E"/>
                          </a:solidFill>
                          <a:latin typeface="Calibri"/>
                        </a:rPr>
                        <a:t>Lehavim</a:t>
                      </a:r>
                    </a:p>
                  </a:txBody>
                  <a:tcPr marL="73152" marR="73152" marT="0" marB="0" anchor="ctr">
                    <a:solidFill>
                      <a:srgbClr val="FFFFFF"/>
                    </a:solidFill>
                  </a:tcPr>
                </a:tc>
                <a:tc>
                  <a:txBody>
                    <a:bodyPr/>
                    <a:lstStyle/>
                    <a:p>
                      <a:pPr algn="r"/>
                      <a:r>
                        <a:rPr sz="1100" b="0">
                          <a:solidFill>
                            <a:srgbClr val="33302E"/>
                          </a:solidFill>
                          <a:latin typeface="Calibri"/>
                        </a:rPr>
                        <a:t>10</a:t>
                      </a:r>
                    </a:p>
                  </a:txBody>
                  <a:tcPr marL="73152" marR="73152" marT="0" marB="0" anchor="ctr">
                    <a:solidFill>
                      <a:srgbClr val="FFFFFF"/>
                    </a:solidFill>
                  </a:tcPr>
                </a:tc>
                <a:tc>
                  <a:txBody>
                    <a:bodyPr/>
                    <a:lstStyle/>
                    <a:p>
                      <a:pPr algn="r"/>
                      <a:r>
                        <a:rPr sz="1100" b="0">
                          <a:solidFill>
                            <a:srgbClr val="33302E"/>
                          </a:solidFill>
                          <a:latin typeface="Calibri"/>
                        </a:rPr>
                        <a:t>-0.69</a:t>
                      </a:r>
                    </a:p>
                  </a:txBody>
                  <a:tcPr marL="73152" marR="73152" marT="0" marB="0" anchor="ctr">
                    <a:solidFill>
                      <a:srgbClr val="FFFFFF"/>
                    </a:solidFill>
                  </a:tcPr>
                </a:tc>
              </a:tr>
              <a:tr h="214884">
                <a:tc>
                  <a:txBody>
                    <a:bodyPr/>
                    <a:lstStyle/>
                    <a:p>
                      <a:pPr algn="l"/>
                      <a:r>
                        <a:rPr sz="1100" b="0">
                          <a:solidFill>
                            <a:srgbClr val="33302E"/>
                          </a:solidFill>
                          <a:latin typeface="Calibri"/>
                        </a:rPr>
                        <a:t>Emeq Hama'ayanot</a:t>
                      </a:r>
                    </a:p>
                  </a:txBody>
                  <a:tcPr marL="73152" marR="73152" marT="0" marB="0" anchor="ctr">
                    <a:solidFill>
                      <a:srgbClr val="FFFFFF"/>
                    </a:solidFill>
                  </a:tcPr>
                </a:tc>
                <a:tc>
                  <a:txBody>
                    <a:bodyPr/>
                    <a:lstStyle/>
                    <a:p>
                      <a:pPr algn="r"/>
                      <a:r>
                        <a:rPr sz="1100" b="0">
                          <a:solidFill>
                            <a:srgbClr val="33302E"/>
                          </a:solidFill>
                          <a:latin typeface="Calibri"/>
                        </a:rPr>
                        <a:t>6</a:t>
                      </a:r>
                    </a:p>
                  </a:txBody>
                  <a:tcPr marL="73152" marR="73152" marT="0" marB="0" anchor="ctr">
                    <a:solidFill>
                      <a:srgbClr val="FFFFFF"/>
                    </a:solidFill>
                  </a:tcPr>
                </a:tc>
                <a:tc>
                  <a:txBody>
                    <a:bodyPr/>
                    <a:lstStyle/>
                    <a:p>
                      <a:pPr algn="r"/>
                      <a:r>
                        <a:rPr sz="1100" b="0">
                          <a:solidFill>
                            <a:srgbClr val="33302E"/>
                          </a:solidFill>
                          <a:latin typeface="Calibri"/>
                        </a:rPr>
                        <a:t>-0.65</a:t>
                      </a:r>
                    </a:p>
                  </a:txBody>
                  <a:tcPr marL="73152" marR="73152" marT="0" marB="0" anchor="ctr">
                    <a:solidFill>
                      <a:srgbClr val="FFFFFF"/>
                    </a:solidFill>
                  </a:tcPr>
                </a:tc>
              </a:tr>
              <a:tr h="214884">
                <a:tc>
                  <a:txBody>
                    <a:bodyPr/>
                    <a:lstStyle/>
                    <a:p>
                      <a:pPr algn="l"/>
                      <a:r>
                        <a:rPr sz="1100" b="0">
                          <a:solidFill>
                            <a:srgbClr val="33302E"/>
                          </a:solidFill>
                          <a:latin typeface="Calibri"/>
                        </a:rPr>
                        <a:t>Be'er Sheva</a:t>
                      </a:r>
                    </a:p>
                  </a:txBody>
                  <a:tcPr marL="73152" marR="73152" marT="0" marB="0" anchor="ctr">
                    <a:solidFill>
                      <a:srgbClr val="FFFFFF"/>
                    </a:solidFill>
                  </a:tcPr>
                </a:tc>
                <a:tc>
                  <a:txBody>
                    <a:bodyPr/>
                    <a:lstStyle/>
                    <a:p>
                      <a:pPr algn="r"/>
                      <a:r>
                        <a:rPr sz="1100" b="0">
                          <a:solidFill>
                            <a:srgbClr val="33302E"/>
                          </a:solidFill>
                          <a:latin typeface="Calibri"/>
                        </a:rPr>
                        <a:t>5</a:t>
                      </a:r>
                    </a:p>
                  </a:txBody>
                  <a:tcPr marL="73152" marR="73152" marT="0" marB="0" anchor="ctr">
                    <a:solidFill>
                      <a:srgbClr val="FFFFFF"/>
                    </a:solidFill>
                  </a:tcPr>
                </a:tc>
                <a:tc>
                  <a:txBody>
                    <a:bodyPr/>
                    <a:lstStyle/>
                    <a:p>
                      <a:pPr algn="r"/>
                      <a:r>
                        <a:rPr sz="1100" b="0">
                          <a:solidFill>
                            <a:srgbClr val="33302E"/>
                          </a:solidFill>
                          <a:latin typeface="Calibri"/>
                        </a:rPr>
                        <a:t>-0.56</a:t>
                      </a:r>
                    </a:p>
                  </a:txBody>
                  <a:tcPr marL="73152" marR="73152" marT="0" marB="0" anchor="ctr">
                    <a:solidFill>
                      <a:srgbClr val="FFFFFF"/>
                    </a:solidFill>
                  </a:tcPr>
                </a:tc>
              </a:tr>
            </a:tbl>
          </a:graphicData>
        </a:graphic>
      </p:graphicFrame>
      <p:sp>
        <p:nvSpPr>
          <p:cNvPr id="7" name="Rounded Rectangle 6"/>
          <p:cNvSpPr/>
          <p:nvPr/>
        </p:nvSpPr>
        <p:spPr>
          <a:xfrm>
            <a:off x="6245352" y="3611880"/>
            <a:ext cx="5376672" cy="14173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19672" y="3785615"/>
            <a:ext cx="4828032" cy="1097280"/>
          </a:xfrm>
          <a:prstGeom prst="rect">
            <a:avLst/>
          </a:prstGeom>
          <a:noFill/>
        </p:spPr>
        <p:txBody>
          <a:bodyPr wrap="square" lIns="0" rIns="0" tIns="0" bIns="0">
            <a:spAutoFit/>
          </a:bodyPr>
          <a:lstStyle/>
          <a:p>
            <a:pPr algn="l">
              <a:spcAft>
                <a:spcPts val="400"/>
              </a:spcAft>
            </a:pPr>
            <a:r>
              <a:rPr sz="1400" b="1" i="0">
                <a:solidFill>
                  <a:srgbClr val="7A4A3F"/>
                </a:solidFill>
                <a:latin typeface="Calibri"/>
              </a:rPr>
              <a:t>Why twenty and not sixty-five</a:t>
            </a:r>
          </a:p>
          <a:p>
            <a:pPr algn="l">
              <a:lnSpc>
                <a:spcPct val="104000"/>
              </a:lnSpc>
            </a:pPr>
            <a:r>
              <a:rPr sz="1200" b="0" i="0">
                <a:solidFill>
                  <a:srgbClr val="33302E"/>
                </a:solidFill>
                <a:latin typeface="Calibri"/>
              </a:rPr>
              <a:t>Requiring every row of an authority to agree is an all-or-nothing test. Dropping the two smallest rows in the whole table moves eight of the 65 on or off the list, so its membership is a snapshot. These 20 are flagged under all seven rebuilds, so they are the list we would stand behind.</a:t>
            </a:r>
          </a:p>
        </p:txBody>
      </p:sp>
      <p:sp>
        <p:nvSpPr>
          <p:cNvPr id="9" name="TextBox 8"/>
          <p:cNvSpPr txBox="1"/>
          <p:nvPr/>
        </p:nvSpPr>
        <p:spPr>
          <a:xfrm>
            <a:off x="566928" y="5120640"/>
            <a:ext cx="11055096" cy="777240"/>
          </a:xfrm>
          <a:prstGeom prst="rect">
            <a:avLst/>
          </a:prstGeom>
          <a:noFill/>
        </p:spPr>
        <p:txBody>
          <a:bodyPr wrap="square" lIns="0" rIns="0" tIns="0" bIns="0">
            <a:spAutoFit/>
          </a:bodyPr>
          <a:lstStyle/>
          <a:p>
            <a:pPr algn="l">
              <a:spcAft>
                <a:spcPts val="500"/>
              </a:spcAft>
            </a:pPr>
            <a:r>
              <a:rPr sz="1500" b="1" i="0">
                <a:solidFill>
                  <a:srgbClr val="33302E"/>
                </a:solidFill>
                <a:latin typeface="Calibri"/>
              </a:rPr>
              <a:t>Both lists mix sectors, clusters from 1 to 10 and all three authority types. </a:t>
            </a:r>
            <a:r>
              <a:rPr sz="1500" b="0" i="0">
                <a:solidFill>
                  <a:srgbClr val="33302E"/>
                </a:solidFill>
                <a:latin typeface="Calibri"/>
              </a:rPr>
              <a:t>Nothing we measured separates them: that is the finding, and the limit of it.</a:t>
            </a:r>
          </a:p>
          <a:p>
            <a:pPr algn="l"/>
            <a:r>
              <a:rPr sz="1100" b="0" i="0">
                <a:solidFill>
                  <a:srgbClr val="8A7F76"/>
                </a:solidFill>
                <a:latin typeface="Calibri"/>
              </a:rPr>
              <a:t>Mean gap is in standard deviations of that subject and grade, averaged over the authority's rows. Positive is above prediction. Full ranking of all 243 in data/authority_gaps.xlsx.</a:t>
            </a:r>
          </a:p>
        </p:txBody>
      </p:sp>
      <p:sp>
        <p:nvSpPr>
          <p:cNvPr id="10" name="TextBox 9"/>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1" name="TextBox 10"/>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FFFFFF"/>
                </a:solidFill>
                <a:latin typeface="Cambria"/>
              </a:rPr>
              <a:t>What we can say</a:t>
            </a:r>
          </a:p>
        </p:txBody>
      </p:sp>
      <p:sp>
        <p:nvSpPr>
          <p:cNvPr id="4" name="Oval 3"/>
          <p:cNvSpPr/>
          <p:nvPr/>
        </p:nvSpPr>
        <p:spPr>
          <a:xfrm>
            <a:off x="566928" y="1298448"/>
            <a:ext cx="384048" cy="384048"/>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E3A3F"/>
                </a:solidFill>
                <a:latin typeface="Cambria"/>
              </a:rPr>
              <a:t>1</a:t>
            </a:r>
          </a:p>
        </p:txBody>
      </p:sp>
      <p:sp>
        <p:nvSpPr>
          <p:cNvPr id="5" name="TextBox 4"/>
          <p:cNvSpPr txBox="1"/>
          <p:nvPr/>
        </p:nvSpPr>
        <p:spPr>
          <a:xfrm>
            <a:off x="1133856" y="1280160"/>
            <a:ext cx="10424160" cy="292608"/>
          </a:xfrm>
          <a:prstGeom prst="rect">
            <a:avLst/>
          </a:prstGeom>
          <a:noFill/>
        </p:spPr>
        <p:txBody>
          <a:bodyPr wrap="square" lIns="0" rIns="0" tIns="0" bIns="0">
            <a:spAutoFit/>
          </a:bodyPr>
          <a:lstStyle/>
          <a:p>
            <a:pPr algn="l"/>
            <a:r>
              <a:rPr sz="1600" b="1" i="0">
                <a:solidFill>
                  <a:srgbClr val="FFFFFF"/>
                </a:solidFill>
                <a:latin typeface="Calibri"/>
              </a:rPr>
              <a:t>About half of an authority's score is predictable</a:t>
            </a:r>
          </a:p>
        </p:txBody>
      </p:sp>
      <p:sp>
        <p:nvSpPr>
          <p:cNvPr id="6" name="TextBox 5"/>
          <p:cNvSpPr txBox="1"/>
          <p:nvPr/>
        </p:nvSpPr>
        <p:spPr>
          <a:xfrm>
            <a:off x="1133856" y="1609343"/>
            <a:ext cx="10424160" cy="777240"/>
          </a:xfrm>
          <a:prstGeom prst="rect">
            <a:avLst/>
          </a:prstGeom>
          <a:noFill/>
        </p:spPr>
        <p:txBody>
          <a:bodyPr wrap="square" lIns="0" rIns="0" tIns="0" bIns="0">
            <a:spAutoFit/>
          </a:bodyPr>
          <a:lstStyle/>
          <a:p>
            <a:pPr algn="l">
              <a:lnSpc>
                <a:spcPct val="103000"/>
              </a:lnSpc>
            </a:pPr>
            <a:r>
              <a:rPr sz="1350" b="0" i="0">
                <a:solidFill>
                  <a:srgbClr val="C9BFB2"/>
                </a:solidFill>
                <a:latin typeface="Calibri"/>
              </a:rPr>
              <a:t>The random forest reaches R² = 0.530 on authorities it has never seen, against 0.281 for a baseline that knows only the subject and the grade. The documented gradient is there, strongest in English grade 8 (r = 0.75) and weakest in Arabic grade 5 (r = 0.10).</a:t>
            </a:r>
          </a:p>
        </p:txBody>
      </p:sp>
      <p:sp>
        <p:nvSpPr>
          <p:cNvPr id="7" name="Oval 6"/>
          <p:cNvSpPr/>
          <p:nvPr/>
        </p:nvSpPr>
        <p:spPr>
          <a:xfrm>
            <a:off x="566928" y="2487168"/>
            <a:ext cx="384048" cy="384048"/>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E3A3F"/>
                </a:solidFill>
                <a:latin typeface="Cambria"/>
              </a:rPr>
              <a:t>2</a:t>
            </a:r>
          </a:p>
        </p:txBody>
      </p:sp>
      <p:sp>
        <p:nvSpPr>
          <p:cNvPr id="8" name="TextBox 7"/>
          <p:cNvSpPr txBox="1"/>
          <p:nvPr/>
        </p:nvSpPr>
        <p:spPr>
          <a:xfrm>
            <a:off x="1133856" y="2468880"/>
            <a:ext cx="10424160" cy="292608"/>
          </a:xfrm>
          <a:prstGeom prst="rect">
            <a:avLst/>
          </a:prstGeom>
          <a:noFill/>
        </p:spPr>
        <p:txBody>
          <a:bodyPr wrap="square" lIns="0" rIns="0" tIns="0" bIns="0">
            <a:spAutoFit/>
          </a:bodyPr>
          <a:lstStyle/>
          <a:p>
            <a:pPr algn="l"/>
            <a:r>
              <a:rPr sz="1600" b="1" i="0">
                <a:solidFill>
                  <a:srgbClr val="FFFFFF"/>
                </a:solidFill>
                <a:latin typeface="Calibri"/>
              </a:rPr>
              <a:t>Which test it is outweighs everything we know about the authority</a:t>
            </a:r>
          </a:p>
        </p:txBody>
      </p:sp>
      <p:sp>
        <p:nvSpPr>
          <p:cNvPr id="9" name="TextBox 8"/>
          <p:cNvSpPr txBox="1"/>
          <p:nvPr/>
        </p:nvSpPr>
        <p:spPr>
          <a:xfrm>
            <a:off x="1133856" y="2798064"/>
            <a:ext cx="10424160" cy="777240"/>
          </a:xfrm>
          <a:prstGeom prst="rect">
            <a:avLst/>
          </a:prstGeom>
          <a:noFill/>
        </p:spPr>
        <p:txBody>
          <a:bodyPr wrap="square" lIns="0" rIns="0" tIns="0" bIns="0">
            <a:spAutoFit/>
          </a:bodyPr>
          <a:lstStyle/>
          <a:p>
            <a:pPr algn="l">
              <a:lnSpc>
                <a:spcPct val="103000"/>
              </a:lnSpc>
            </a:pPr>
            <a:r>
              <a:rPr sz="1350" b="0" i="0">
                <a:solidFill>
                  <a:srgbClr val="C9BFB2"/>
                </a:solidFill>
                <a:latin typeface="Calibri"/>
              </a:rPr>
              <a:t>Shuffling the four test-identity variables costs 0.609 of R²; shuffling all sixteen socio-economic variables costs 0.374. So the answer to the proposal's question is no, though socio-economic standing is still the second of two large blocks.</a:t>
            </a:r>
          </a:p>
        </p:txBody>
      </p:sp>
      <p:sp>
        <p:nvSpPr>
          <p:cNvPr id="10" name="Oval 9"/>
          <p:cNvSpPr/>
          <p:nvPr/>
        </p:nvSpPr>
        <p:spPr>
          <a:xfrm>
            <a:off x="566928" y="3675887"/>
            <a:ext cx="384048" cy="384048"/>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E3A3F"/>
                </a:solidFill>
                <a:latin typeface="Cambria"/>
              </a:rPr>
              <a:t>3</a:t>
            </a:r>
          </a:p>
        </p:txBody>
      </p:sp>
      <p:sp>
        <p:nvSpPr>
          <p:cNvPr id="11" name="TextBox 10"/>
          <p:cNvSpPr txBox="1"/>
          <p:nvPr/>
        </p:nvSpPr>
        <p:spPr>
          <a:xfrm>
            <a:off x="1133856" y="3657600"/>
            <a:ext cx="10424160" cy="292608"/>
          </a:xfrm>
          <a:prstGeom prst="rect">
            <a:avLst/>
          </a:prstGeom>
          <a:noFill/>
        </p:spPr>
        <p:txBody>
          <a:bodyPr wrap="square" lIns="0" rIns="0" tIns="0" bIns="0">
            <a:spAutoFit/>
          </a:bodyPr>
          <a:lstStyle/>
          <a:p>
            <a:pPr algn="l"/>
            <a:r>
              <a:rPr sz="1600" b="1" i="0">
                <a:solidFill>
                  <a:srgbClr val="FFFFFF"/>
                </a:solidFill>
                <a:latin typeface="Calibri"/>
              </a:rPr>
              <a:t>Twenty authorities deviate robustly, and none ever flips</a:t>
            </a:r>
          </a:p>
        </p:txBody>
      </p:sp>
      <p:sp>
        <p:nvSpPr>
          <p:cNvPr id="12" name="TextBox 11"/>
          <p:cNvSpPr txBox="1"/>
          <p:nvPr/>
        </p:nvSpPr>
        <p:spPr>
          <a:xfrm>
            <a:off x="1133856" y="3986784"/>
            <a:ext cx="10424160" cy="777240"/>
          </a:xfrm>
          <a:prstGeom prst="rect">
            <a:avLst/>
          </a:prstGeom>
          <a:noFill/>
        </p:spPr>
        <p:txBody>
          <a:bodyPr wrap="square" lIns="0" rIns="0" tIns="0" bIns="0">
            <a:spAutoFit/>
          </a:bodyPr>
          <a:lstStyle/>
          <a:p>
            <a:pPr algn="l">
              <a:lnSpc>
                <a:spcPct val="103000"/>
              </a:lnSpc>
            </a:pPr>
            <a:r>
              <a:rPr sz="1350" b="0" i="0">
                <a:solidFill>
                  <a:srgbClr val="C9BFB2"/>
                </a:solidFill>
                <a:latin typeface="Calibri"/>
              </a:rPr>
              <a:t>Sixty-five of 238 deviate consistently under the pre-specified analysis, 33 above and 32 below. Twenty survive all seven rebuilds, and across every variation no authority ever changed direction. That is the strongest claim this project can make.</a:t>
            </a:r>
          </a:p>
        </p:txBody>
      </p:sp>
      <p:sp>
        <p:nvSpPr>
          <p:cNvPr id="13" name="Oval 12"/>
          <p:cNvSpPr/>
          <p:nvPr/>
        </p:nvSpPr>
        <p:spPr>
          <a:xfrm>
            <a:off x="566928" y="4864607"/>
            <a:ext cx="384048" cy="384048"/>
          </a:xfrm>
          <a:prstGeom prst="ellipse">
            <a:avLst/>
          </a:prstGeom>
          <a:solidFill>
            <a:srgbClr val="A7BE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E3A3F"/>
                </a:solidFill>
                <a:latin typeface="Cambria"/>
              </a:rPr>
              <a:t>4</a:t>
            </a:r>
          </a:p>
        </p:txBody>
      </p:sp>
      <p:sp>
        <p:nvSpPr>
          <p:cNvPr id="14" name="TextBox 13"/>
          <p:cNvSpPr txBox="1"/>
          <p:nvPr/>
        </p:nvSpPr>
        <p:spPr>
          <a:xfrm>
            <a:off x="1133856" y="4846320"/>
            <a:ext cx="10424160" cy="292608"/>
          </a:xfrm>
          <a:prstGeom prst="rect">
            <a:avLst/>
          </a:prstGeom>
          <a:noFill/>
        </p:spPr>
        <p:txBody>
          <a:bodyPr wrap="square" lIns="0" rIns="0" tIns="0" bIns="0">
            <a:spAutoFit/>
          </a:bodyPr>
          <a:lstStyle/>
          <a:p>
            <a:pPr algn="l"/>
            <a:r>
              <a:rPr sz="1600" b="1" i="0">
                <a:solidFill>
                  <a:srgbClr val="FFFFFF"/>
                </a:solidFill>
                <a:latin typeface="Calibri"/>
              </a:rPr>
              <a:t>Nothing we measured explains why</a:t>
            </a:r>
          </a:p>
        </p:txBody>
      </p:sp>
      <p:sp>
        <p:nvSpPr>
          <p:cNvPr id="15" name="TextBox 14"/>
          <p:cNvSpPr txBox="1"/>
          <p:nvPr/>
        </p:nvSpPr>
        <p:spPr>
          <a:xfrm>
            <a:off x="1133856" y="5175504"/>
            <a:ext cx="10424160" cy="777240"/>
          </a:xfrm>
          <a:prstGeom prst="rect">
            <a:avLst/>
          </a:prstGeom>
          <a:noFill/>
        </p:spPr>
        <p:txBody>
          <a:bodyPr wrap="square" lIns="0" rIns="0" tIns="0" bIns="0">
            <a:spAutoFit/>
          </a:bodyPr>
          <a:lstStyle/>
          <a:p>
            <a:pPr algn="l">
              <a:lnSpc>
                <a:spcPct val="103000"/>
              </a:lnSpc>
            </a:pPr>
            <a:r>
              <a:rPr sz="1350" b="0" i="0">
                <a:solidFill>
                  <a:srgbClr val="C9BFB2"/>
                </a:solidFill>
                <a:latin typeface="Calibri"/>
              </a:rPr>
              <a:t>Across 22 variables, the 16 the model used and 6 it never saw, the strongest relationship with an authority's gap is r = 0.162. Whatever drives the gaps is plausibly school-level and organisational, and it is in neither dataset.</a:t>
            </a:r>
          </a:p>
        </p:txBody>
      </p:sp>
      <p:sp>
        <p:nvSpPr>
          <p:cNvPr id="16" name="TextBox 15"/>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C9BFB2"/>
                </a:solidFill>
                <a:latin typeface="Calibri"/>
              </a:rPr>
              <a:t>Beyond the Cluster  ·  Tchizik &amp; Cohen</a:t>
            </a:r>
          </a:p>
        </p:txBody>
      </p:sp>
      <p:sp>
        <p:nvSpPr>
          <p:cNvPr id="17" name="TextBox 16"/>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C9BFB2"/>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What this cannot say</a:t>
            </a:r>
          </a:p>
        </p:txBody>
      </p:sp>
      <p:sp>
        <p:nvSpPr>
          <p:cNvPr id="3" name="Rounded Rectangle 2"/>
          <p:cNvSpPr/>
          <p:nvPr/>
        </p:nvSpPr>
        <p:spPr>
          <a:xfrm>
            <a:off x="566928" y="1115568"/>
            <a:ext cx="11055096" cy="146304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1298448"/>
            <a:ext cx="10415016" cy="1143000"/>
          </a:xfrm>
          <a:prstGeom prst="rect">
            <a:avLst/>
          </a:prstGeom>
          <a:noFill/>
        </p:spPr>
        <p:txBody>
          <a:bodyPr wrap="square" lIns="0" rIns="0" tIns="0" bIns="0">
            <a:spAutoFit/>
          </a:bodyPr>
          <a:lstStyle/>
          <a:p>
            <a:pPr algn="l">
              <a:spcAft>
                <a:spcPts val="400"/>
              </a:spcAft>
            </a:pPr>
            <a:r>
              <a:rPr sz="1600" b="1" i="0">
                <a:solidFill>
                  <a:srgbClr val="B85042"/>
                </a:solidFill>
                <a:latin typeface="Calibri"/>
              </a:rPr>
              <a:t>The ecological fallacy</a:t>
            </a:r>
          </a:p>
          <a:p>
            <a:pPr algn="l">
              <a:lnSpc>
                <a:spcPct val="104000"/>
              </a:lnSpc>
            </a:pPr>
            <a:r>
              <a:rPr sz="1350" b="0" i="0">
                <a:solidFill>
                  <a:srgbClr val="33302E"/>
                </a:solidFill>
                <a:latin typeface="Calibri"/>
              </a:rPr>
              <a:t>Every number in this project describes a local authority, not a pupil. Kafar Yasif over-performs its prediction, and that does not mean every pupil there scores above expectation: the authority contains strong and weak results and we never see them separately. Relationships measured between group averages are also usually stronger than the same relationship between individuals, so our correlations would overstate what holds for any one pupil. The findings support decisions about authorities, not claims about the pupils in them.</a:t>
            </a:r>
          </a:p>
        </p:txBody>
      </p:sp>
      <p:sp>
        <p:nvSpPr>
          <p:cNvPr id="5" name="TextBox 4"/>
          <p:cNvSpPr txBox="1"/>
          <p:nvPr/>
        </p:nvSpPr>
        <p:spPr>
          <a:xfrm>
            <a:off x="566928" y="2697480"/>
            <a:ext cx="2286000" cy="54864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No causality</a:t>
            </a:r>
          </a:p>
        </p:txBody>
      </p:sp>
      <p:sp>
        <p:nvSpPr>
          <p:cNvPr id="6" name="TextBox 5"/>
          <p:cNvSpPr txBox="1"/>
          <p:nvPr/>
        </p:nvSpPr>
        <p:spPr>
          <a:xfrm>
            <a:off x="2990088" y="2697480"/>
            <a:ext cx="8631936" cy="731520"/>
          </a:xfrm>
          <a:prstGeom prst="rect">
            <a:avLst/>
          </a:prstGeom>
          <a:noFill/>
        </p:spPr>
        <p:txBody>
          <a:bodyPr wrap="square" lIns="0" rIns="0" tIns="0" bIns="0">
            <a:spAutoFit/>
          </a:bodyPr>
          <a:lstStyle/>
          <a:p>
            <a:pPr algn="l">
              <a:lnSpc>
                <a:spcPct val="103000"/>
              </a:lnSpc>
            </a:pPr>
            <a:r>
              <a:rPr sz="1350" b="0" i="0">
                <a:solidFill>
                  <a:srgbClr val="33302E"/>
                </a:solidFill>
                <a:latin typeface="Calibri"/>
              </a:rPr>
              <a:t>Observational and cross-sectional data. The index and the score move together and nothing here identifies a cause: sector composition, geography and school-level resourcing are all plausible confounders.</a:t>
            </a:r>
          </a:p>
        </p:txBody>
      </p:sp>
      <p:sp>
        <p:nvSpPr>
          <p:cNvPr id="7" name="TextBox 6"/>
          <p:cNvSpPr txBox="1"/>
          <p:nvPr/>
        </p:nvSpPr>
        <p:spPr>
          <a:xfrm>
            <a:off x="566928" y="3465576"/>
            <a:ext cx="2286000" cy="54864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What the grouped split cost</a:t>
            </a:r>
          </a:p>
        </p:txBody>
      </p:sp>
      <p:sp>
        <p:nvSpPr>
          <p:cNvPr id="8" name="TextBox 7"/>
          <p:cNvSpPr txBox="1"/>
          <p:nvPr/>
        </p:nvSpPr>
        <p:spPr>
          <a:xfrm>
            <a:off x="2990088" y="3465576"/>
            <a:ext cx="8631936" cy="731520"/>
          </a:xfrm>
          <a:prstGeom prst="rect">
            <a:avLst/>
          </a:prstGeom>
          <a:noFill/>
        </p:spPr>
        <p:txBody>
          <a:bodyPr wrap="square" lIns="0" rIns="0" tIns="0" bIns="0">
            <a:spAutoFit/>
          </a:bodyPr>
          <a:lstStyle/>
          <a:p>
            <a:pPr algn="l">
              <a:lnSpc>
                <a:spcPct val="103000"/>
              </a:lnSpc>
            </a:pPr>
            <a:r>
              <a:rPr sz="1350" b="0" i="0">
                <a:solidFill>
                  <a:srgbClr val="33302E"/>
                </a:solidFill>
                <a:latin typeface="Calibri"/>
              </a:rPr>
              <a:t>A split by row would have scored better, and 0.30 of that R² is memorising the authority rather than anything that carries over to a new one. We report the lower, honest number.</a:t>
            </a:r>
          </a:p>
        </p:txBody>
      </p:sp>
      <p:sp>
        <p:nvSpPr>
          <p:cNvPr id="9" name="TextBox 8"/>
          <p:cNvSpPr txBox="1"/>
          <p:nvPr/>
        </p:nvSpPr>
        <p:spPr>
          <a:xfrm>
            <a:off x="566928" y="4233672"/>
            <a:ext cx="2286000" cy="54864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Coverage and years</a:t>
            </a:r>
          </a:p>
        </p:txBody>
      </p:sp>
      <p:sp>
        <p:nvSpPr>
          <p:cNvPr id="10" name="TextBox 9"/>
          <p:cNvSpPr txBox="1"/>
          <p:nvPr/>
        </p:nvSpPr>
        <p:spPr>
          <a:xfrm>
            <a:off x="2990088" y="4233672"/>
            <a:ext cx="8631936" cy="731520"/>
          </a:xfrm>
          <a:prstGeom prst="rect">
            <a:avLst/>
          </a:prstGeom>
          <a:noFill/>
        </p:spPr>
        <p:txBody>
          <a:bodyPr wrap="square" lIns="0" rIns="0" tIns="0" bIns="0">
            <a:spAutoFit/>
          </a:bodyPr>
          <a:lstStyle/>
          <a:p>
            <a:pPr algn="l">
              <a:lnSpc>
                <a:spcPct val="103000"/>
              </a:lnSpc>
            </a:pPr>
            <a:r>
              <a:rPr sz="1350" b="0" i="0">
                <a:solidFill>
                  <a:srgbClr val="33302E"/>
                </a:solidFill>
                <a:latin typeface="Calibri"/>
              </a:rPr>
              <a:t>Of the 44 rows with no score, 40 are groups of under 30 pupils, so the smallest authorities are under-represented. 215 of 243 authorities appear in a single year, so year-to-year consistency is only checkable for 28.</a:t>
            </a:r>
          </a:p>
        </p:txBody>
      </p:sp>
      <p:sp>
        <p:nvSpPr>
          <p:cNvPr id="11" name="TextBox 10"/>
          <p:cNvSpPr txBox="1"/>
          <p:nvPr/>
        </p:nvSpPr>
        <p:spPr>
          <a:xfrm>
            <a:off x="566928" y="5001768"/>
            <a:ext cx="2286000" cy="548640"/>
          </a:xfrm>
          <a:prstGeom prst="rect">
            <a:avLst/>
          </a:prstGeom>
          <a:noFill/>
        </p:spPr>
        <p:txBody>
          <a:bodyPr wrap="square" lIns="0" rIns="0" tIns="0" bIns="0">
            <a:spAutoFit/>
          </a:bodyPr>
          <a:lstStyle/>
          <a:p>
            <a:pPr algn="l">
              <a:lnSpc>
                <a:spcPct val="103000"/>
              </a:lnSpc>
            </a:pPr>
            <a:r>
              <a:rPr sz="1400" b="1" i="0">
                <a:solidFill>
                  <a:srgbClr val="50808E"/>
                </a:solidFill>
                <a:latin typeface="Calibri"/>
              </a:rPr>
              <a:t>A sharp threshold</a:t>
            </a:r>
          </a:p>
        </p:txBody>
      </p:sp>
      <p:sp>
        <p:nvSpPr>
          <p:cNvPr id="12" name="TextBox 11"/>
          <p:cNvSpPr txBox="1"/>
          <p:nvPr/>
        </p:nvSpPr>
        <p:spPr>
          <a:xfrm>
            <a:off x="2990088" y="5001768"/>
            <a:ext cx="8631936" cy="731520"/>
          </a:xfrm>
          <a:prstGeom prst="rect">
            <a:avLst/>
          </a:prstGeom>
          <a:noFill/>
        </p:spPr>
        <p:txBody>
          <a:bodyPr wrap="square" lIns="0" rIns="0" tIns="0" bIns="0">
            <a:spAutoFit/>
          </a:bodyPr>
          <a:lstStyle/>
          <a:p>
            <a:pPr algn="l">
              <a:lnSpc>
                <a:spcPct val="103000"/>
              </a:lnSpc>
            </a:pPr>
            <a:r>
              <a:rPr sz="1350" b="0" i="0">
                <a:solidFill>
                  <a:srgbClr val="33302E"/>
                </a:solidFill>
                <a:latin typeface="Calibri"/>
              </a:rPr>
              <a:t>Three authorities carry median-imputed CBS variables, and the all-or-nothing flagging rule is sensitive at the margin, which is why the list we report is the 20 rather than the 65.</a:t>
            </a:r>
          </a:p>
        </p:txBody>
      </p:sp>
      <p:sp>
        <p:nvSpPr>
          <p:cNvPr id="13" name="TextBox 12"/>
          <p:cNvSpPr txBox="1"/>
          <p:nvPr/>
        </p:nvSpPr>
        <p:spPr>
          <a:xfrm>
            <a:off x="566928" y="5733288"/>
            <a:ext cx="11055096" cy="411480"/>
          </a:xfrm>
          <a:prstGeom prst="rect">
            <a:avLst/>
          </a:prstGeom>
          <a:noFill/>
        </p:spPr>
        <p:txBody>
          <a:bodyPr wrap="square" lIns="0" rIns="0" tIns="0" bIns="0">
            <a:spAutoFit/>
          </a:bodyPr>
          <a:lstStyle/>
          <a:p>
            <a:pPr algn="l"/>
            <a:r>
              <a:rPr sz="1200" b="1" i="0">
                <a:solidFill>
                  <a:srgbClr val="7A4A3F"/>
                </a:solidFill>
                <a:latin typeface="Calibri"/>
              </a:rPr>
              <a:t>What we would do differently: </a:t>
            </a:r>
            <a:r>
              <a:rPr sz="1200" b="0" i="0">
                <a:solidFill>
                  <a:srgbClr val="8A7F76"/>
                </a:solidFill>
                <a:latin typeface="Calibri"/>
              </a:rPr>
              <a:t>school-level or pupil-level data to escape the aggregation problem and test the organisational explanation, a real multi-year panel with authority fixed effects, and district and peripherality variables for the geography this analysis lacks.</a:t>
            </a:r>
          </a:p>
        </p:txBody>
      </p:sp>
      <p:sp>
        <p:nvSpPr>
          <p:cNvPr id="14" name="TextBox 13"/>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5" name="TextBox 14"/>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Backup: which variables carry the model</a:t>
            </a:r>
          </a:p>
        </p:txBody>
      </p:sp>
      <p:pic>
        <p:nvPicPr>
          <p:cNvPr id="3" name="Picture 2" descr="deck_fig13.png"/>
          <p:cNvPicPr>
            <a:picLocks noChangeAspect="1"/>
          </p:cNvPicPr>
          <p:nvPr/>
        </p:nvPicPr>
        <p:blipFill>
          <a:blip r:embed="rId2"/>
          <a:stretch>
            <a:fillRect/>
          </a:stretch>
        </p:blipFill>
        <p:spPr>
          <a:xfrm>
            <a:off x="566928" y="1234440"/>
            <a:ext cx="6949440" cy="3154680"/>
          </a:xfrm>
          <a:prstGeom prst="rect">
            <a:avLst/>
          </a:prstGeom>
        </p:spPr>
      </p:pic>
      <p:sp>
        <p:nvSpPr>
          <p:cNvPr id="4" name="TextBox 3"/>
          <p:cNvSpPr txBox="1"/>
          <p:nvPr/>
        </p:nvSpPr>
        <p:spPr>
          <a:xfrm>
            <a:off x="566928" y="4462272"/>
            <a:ext cx="6949440" cy="274320"/>
          </a:xfrm>
          <a:prstGeom prst="rect">
            <a:avLst/>
          </a:prstGeom>
          <a:noFill/>
        </p:spPr>
        <p:txBody>
          <a:bodyPr wrap="square" lIns="0" rIns="0" tIns="0" bIns="0">
            <a:spAutoFit/>
          </a:bodyPr>
          <a:lstStyle/>
          <a:p>
            <a:pPr algn="l"/>
            <a:r>
              <a:rPr sz="1050" b="1" i="0">
                <a:solidFill>
                  <a:srgbClr val="8A7F76"/>
                </a:solidFill>
                <a:latin typeface="Calibri"/>
              </a:rPr>
              <a:t>Fig 13. </a:t>
            </a:r>
            <a:r>
              <a:rPr sz="1050" b="0" i="0">
                <a:solidFill>
                  <a:srgbClr val="8A7F76"/>
                </a:solidFill>
                <a:latin typeface="Calibri"/>
              </a:rPr>
              <a:t>Per-variable importance, impurity against permutation, with the one-hot dummies summed back per variable.</a:t>
            </a:r>
          </a:p>
        </p:txBody>
      </p:sp>
      <p:sp>
        <p:nvSpPr>
          <p:cNvPr id="5" name="TextBox 4"/>
          <p:cNvSpPr txBox="1"/>
          <p:nvPr/>
        </p:nvSpPr>
        <p:spPr>
          <a:xfrm>
            <a:off x="566928" y="5029200"/>
            <a:ext cx="6949440" cy="1005840"/>
          </a:xfrm>
          <a:prstGeom prst="rect">
            <a:avLst/>
          </a:prstGeom>
          <a:noFill/>
        </p:spPr>
        <p:txBody>
          <a:bodyPr wrap="square" lIns="0" rIns="0" tIns="0" bIns="0">
            <a:spAutoFit/>
          </a:bodyPr>
          <a:lstStyle/>
          <a:p>
            <a:pPr algn="l">
              <a:lnSpc>
                <a:spcPct val="104000"/>
              </a:lnSpc>
            </a:pPr>
            <a:r>
              <a:rPr sz="1350" b="0" i="0">
                <a:solidFill>
                  <a:srgbClr val="33302E"/>
                </a:solidFill>
                <a:latin typeface="Calibri"/>
              </a:rPr>
              <a:t>Subject and grade dominate, and it is not close. Shuffling subject costs 0.505 of R² and grade 0.169; the next variable down is income per capita at 0.021 and ses_index itself ranks ninth, at 0.011.</a:t>
            </a:r>
          </a:p>
        </p:txBody>
      </p:sp>
      <p:sp>
        <p:nvSpPr>
          <p:cNvPr id="6" name="TextBox 5"/>
          <p:cNvSpPr txBox="1"/>
          <p:nvPr/>
        </p:nvSpPr>
        <p:spPr>
          <a:xfrm>
            <a:off x="7726679" y="1234440"/>
            <a:ext cx="3895344" cy="274320"/>
          </a:xfrm>
          <a:prstGeom prst="rect">
            <a:avLst/>
          </a:prstGeom>
          <a:noFill/>
        </p:spPr>
        <p:txBody>
          <a:bodyPr wrap="square" lIns="0" rIns="0" tIns="0" bIns="0">
            <a:spAutoFit/>
          </a:bodyPr>
          <a:lstStyle/>
          <a:p>
            <a:pPr algn="l"/>
            <a:r>
              <a:rPr sz="1400" b="1" i="0">
                <a:solidFill>
                  <a:srgbClr val="7A4A3F"/>
                </a:solidFill>
                <a:latin typeface="Calibri"/>
              </a:rPr>
              <a:t>Table 10. Block permutation</a:t>
            </a:r>
          </a:p>
        </p:txBody>
      </p:sp>
      <p:graphicFrame>
        <p:nvGraphicFramePr>
          <p:cNvPr id="7" name="Table 6"/>
          <p:cNvGraphicFramePr>
            <a:graphicFrameLocks noGrp="1"/>
          </p:cNvGraphicFramePr>
          <p:nvPr/>
        </p:nvGraphicFramePr>
        <p:xfrm>
          <a:off x="7726679" y="1572768"/>
          <a:ext cx="3895344" cy="1371600"/>
        </p:xfrm>
        <a:graphic>
          <a:graphicData uri="http://schemas.openxmlformats.org/drawingml/2006/table">
            <a:tbl>
              <a:tblPr firstRow="1">
                <a:tableStyleId>{5C22544A-7EE6-4342-B048-85BDC9FD1C3A}</a:tableStyleId>
              </a:tblPr>
              <a:tblGrid>
                <a:gridCol w="2249424"/>
                <a:gridCol w="731520"/>
                <a:gridCol w="914400"/>
              </a:tblGrid>
              <a:tr h="274320">
                <a:tc>
                  <a:txBody>
                    <a:bodyPr/>
                    <a:lstStyle/>
                    <a:p>
                      <a:pPr algn="l"/>
                      <a:r>
                        <a:rPr sz="1100" b="1">
                          <a:solidFill>
                            <a:srgbClr val="FFFFFF"/>
                          </a:solidFill>
                          <a:latin typeface="Calibri"/>
                        </a:rPr>
                        <a:t>Block shuffled</a:t>
                      </a:r>
                    </a:p>
                  </a:txBody>
                  <a:tcPr marL="73152" marR="73152" marT="0" marB="0" anchor="ctr">
                    <a:solidFill>
                      <a:srgbClr val="50808E"/>
                    </a:solidFill>
                  </a:tcPr>
                </a:tc>
                <a:tc>
                  <a:txBody>
                    <a:bodyPr/>
                    <a:lstStyle/>
                    <a:p>
                      <a:pPr algn="r"/>
                      <a:r>
                        <a:rPr sz="1100" b="1">
                          <a:solidFill>
                            <a:srgbClr val="FFFFFF"/>
                          </a:solidFill>
                          <a:latin typeface="Calibri"/>
                        </a:rPr>
                        <a:t>Vars</a:t>
                      </a:r>
                    </a:p>
                  </a:txBody>
                  <a:tcPr marL="73152" marR="73152" marT="0" marB="0" anchor="ctr">
                    <a:solidFill>
                      <a:srgbClr val="50808E"/>
                    </a:solidFill>
                  </a:tcPr>
                </a:tc>
                <a:tc>
                  <a:txBody>
                    <a:bodyPr/>
                    <a:lstStyle/>
                    <a:p>
                      <a:pPr algn="r"/>
                      <a:r>
                        <a:rPr sz="1100" b="1">
                          <a:solidFill>
                            <a:srgbClr val="FFFFFF"/>
                          </a:solidFill>
                          <a:latin typeface="Calibri"/>
                        </a:rPr>
                        <a:t>R² lost</a:t>
                      </a:r>
                    </a:p>
                  </a:txBody>
                  <a:tcPr marL="73152" marR="73152" marT="0" marB="0" anchor="ctr">
                    <a:solidFill>
                      <a:srgbClr val="50808E"/>
                    </a:solidFill>
                  </a:tcPr>
                </a:tc>
              </a:tr>
              <a:tr h="274320">
                <a:tc>
                  <a:txBody>
                    <a:bodyPr/>
                    <a:lstStyle/>
                    <a:p>
                      <a:pPr algn="l"/>
                      <a:r>
                        <a:rPr sz="1100" b="0">
                          <a:solidFill>
                            <a:srgbClr val="33302E"/>
                          </a:solidFill>
                          <a:latin typeface="Calibri"/>
                        </a:rPr>
                        <a:t>Test identity</a:t>
                      </a:r>
                    </a:p>
                  </a:txBody>
                  <a:tcPr marL="73152" marR="73152" marT="0" marB="0" anchor="ctr">
                    <a:solidFill>
                      <a:srgbClr val="FFFFFF"/>
                    </a:solidFill>
                  </a:tcPr>
                </a:tc>
                <a:tc>
                  <a:txBody>
                    <a:bodyPr/>
                    <a:lstStyle/>
                    <a:p>
                      <a:pPr algn="r"/>
                      <a:r>
                        <a:rPr sz="1100" b="0">
                          <a:solidFill>
                            <a:srgbClr val="33302E"/>
                          </a:solidFill>
                          <a:latin typeface="Calibri"/>
                        </a:rPr>
                        <a:t>10</a:t>
                      </a:r>
                    </a:p>
                  </a:txBody>
                  <a:tcPr marL="73152" marR="73152" marT="0" marB="0" anchor="ctr">
                    <a:solidFill>
                      <a:srgbClr val="FFFFFF"/>
                    </a:solidFill>
                  </a:tcPr>
                </a:tc>
                <a:tc>
                  <a:txBody>
                    <a:bodyPr/>
                    <a:lstStyle/>
                    <a:p>
                      <a:pPr algn="r"/>
                      <a:r>
                        <a:rPr sz="1100" b="0">
                          <a:solidFill>
                            <a:srgbClr val="33302E"/>
                          </a:solidFill>
                          <a:latin typeface="Calibri"/>
                        </a:rPr>
                        <a:t>0.609</a:t>
                      </a:r>
                    </a:p>
                  </a:txBody>
                  <a:tcPr marL="73152" marR="73152" marT="0" marB="0" anchor="ctr">
                    <a:solidFill>
                      <a:srgbClr val="FFFFFF"/>
                    </a:solidFill>
                  </a:tcPr>
                </a:tc>
              </a:tr>
              <a:tr h="274320">
                <a:tc>
                  <a:txBody>
                    <a:bodyPr/>
                    <a:lstStyle/>
                    <a:p>
                      <a:pPr algn="l"/>
                      <a:r>
                        <a:rPr sz="1100" b="0">
                          <a:solidFill>
                            <a:srgbClr val="33302E"/>
                          </a:solidFill>
                          <a:latin typeface="Calibri"/>
                        </a:rPr>
                        <a:t>Subject and grade only</a:t>
                      </a:r>
                    </a:p>
                  </a:txBody>
                  <a:tcPr marL="73152" marR="73152" marT="0" marB="0" anchor="ctr">
                    <a:solidFill>
                      <a:srgbClr val="FFFFFF"/>
                    </a:solidFill>
                  </a:tcPr>
                </a:tc>
                <a:tc>
                  <a:txBody>
                    <a:bodyPr/>
                    <a:lstStyle/>
                    <a:p>
                      <a:pPr algn="r"/>
                      <a:r>
                        <a:rPr sz="1100" b="0">
                          <a:solidFill>
                            <a:srgbClr val="33302E"/>
                          </a:solidFill>
                          <a:latin typeface="Calibri"/>
                        </a:rPr>
                        <a:t>6</a:t>
                      </a:r>
                    </a:p>
                  </a:txBody>
                  <a:tcPr marL="73152" marR="73152" marT="0" marB="0" anchor="ctr">
                    <a:solidFill>
                      <a:srgbClr val="FFFFFF"/>
                    </a:solidFill>
                  </a:tcPr>
                </a:tc>
                <a:tc>
                  <a:txBody>
                    <a:bodyPr/>
                    <a:lstStyle/>
                    <a:p>
                      <a:pPr algn="r"/>
                      <a:r>
                        <a:rPr sz="1100" b="0">
                          <a:solidFill>
                            <a:srgbClr val="33302E"/>
                          </a:solidFill>
                          <a:latin typeface="Calibri"/>
                        </a:rPr>
                        <a:t>0.602</a:t>
                      </a:r>
                    </a:p>
                  </a:txBody>
                  <a:tcPr marL="73152" marR="73152" marT="0" marB="0" anchor="ctr">
                    <a:solidFill>
                      <a:srgbClr val="FFFFFF"/>
                    </a:solidFill>
                  </a:tcPr>
                </a:tc>
              </a:tr>
              <a:tr h="274320">
                <a:tc>
                  <a:txBody>
                    <a:bodyPr/>
                    <a:lstStyle/>
                    <a:p>
                      <a:pPr algn="l"/>
                      <a:r>
                        <a:rPr sz="1100" b="0">
                          <a:solidFill>
                            <a:srgbClr val="33302E"/>
                          </a:solidFill>
                          <a:latin typeface="Calibri"/>
                        </a:rPr>
                        <a:t>Socio-economic block</a:t>
                      </a:r>
                    </a:p>
                  </a:txBody>
                  <a:tcPr marL="73152" marR="73152" marT="0" marB="0" anchor="ctr">
                    <a:solidFill>
                      <a:srgbClr val="FFFFFF"/>
                    </a:solidFill>
                  </a:tcPr>
                </a:tc>
                <a:tc>
                  <a:txBody>
                    <a:bodyPr/>
                    <a:lstStyle/>
                    <a:p>
                      <a:pPr algn="r"/>
                      <a:r>
                        <a:rPr sz="1100" b="0">
                          <a:solidFill>
                            <a:srgbClr val="33302E"/>
                          </a:solidFill>
                          <a:latin typeface="Calibri"/>
                        </a:rPr>
                        <a:t>16</a:t>
                      </a:r>
                    </a:p>
                  </a:txBody>
                  <a:tcPr marL="73152" marR="73152" marT="0" marB="0" anchor="ctr">
                    <a:solidFill>
                      <a:srgbClr val="FFFFFF"/>
                    </a:solidFill>
                  </a:tcPr>
                </a:tc>
                <a:tc>
                  <a:txBody>
                    <a:bodyPr/>
                    <a:lstStyle/>
                    <a:p>
                      <a:pPr algn="r"/>
                      <a:r>
                        <a:rPr sz="1100" b="0">
                          <a:solidFill>
                            <a:srgbClr val="33302E"/>
                          </a:solidFill>
                          <a:latin typeface="Calibri"/>
                        </a:rPr>
                        <a:t>0.374</a:t>
                      </a:r>
                    </a:p>
                  </a:txBody>
                  <a:tcPr marL="73152" marR="73152" marT="0" marB="0" anchor="ctr">
                    <a:solidFill>
                      <a:srgbClr val="FFFFFF"/>
                    </a:solidFill>
                  </a:tcPr>
                </a:tc>
              </a:tr>
              <a:tr h="274320">
                <a:tc>
                  <a:txBody>
                    <a:bodyPr/>
                    <a:lstStyle/>
                    <a:p>
                      <a:pPr algn="l"/>
                      <a:r>
                        <a:rPr sz="1100" b="0">
                          <a:solidFill>
                            <a:srgbClr val="33302E"/>
                          </a:solidFill>
                          <a:latin typeface="Calibri"/>
                        </a:rPr>
                        <a:t>ses_index alone</a:t>
                      </a:r>
                    </a:p>
                  </a:txBody>
                  <a:tcPr marL="73152" marR="73152" marT="0" marB="0" anchor="ctr">
                    <a:solidFill>
                      <a:srgbClr val="FFFFFF"/>
                    </a:solidFill>
                  </a:tcPr>
                </a:tc>
                <a:tc>
                  <a:txBody>
                    <a:bodyPr/>
                    <a:lstStyle/>
                    <a:p>
                      <a:pPr algn="r"/>
                      <a:r>
                        <a:rPr sz="1100" b="0">
                          <a:solidFill>
                            <a:srgbClr val="33302E"/>
                          </a:solidFill>
                          <a:latin typeface="Calibri"/>
                        </a:rPr>
                        <a:t>1</a:t>
                      </a:r>
                    </a:p>
                  </a:txBody>
                  <a:tcPr marL="73152" marR="73152" marT="0" marB="0" anchor="ctr">
                    <a:solidFill>
                      <a:srgbClr val="FFFFFF"/>
                    </a:solidFill>
                  </a:tcPr>
                </a:tc>
                <a:tc>
                  <a:txBody>
                    <a:bodyPr/>
                    <a:lstStyle/>
                    <a:p>
                      <a:pPr algn="r"/>
                      <a:r>
                        <a:rPr sz="1100" b="0">
                          <a:solidFill>
                            <a:srgbClr val="33302E"/>
                          </a:solidFill>
                          <a:latin typeface="Calibri"/>
                        </a:rPr>
                        <a:t>0.012</a:t>
                      </a:r>
                    </a:p>
                  </a:txBody>
                  <a:tcPr marL="73152" marR="73152" marT="0" marB="0" anchor="ctr">
                    <a:solidFill>
                      <a:srgbClr val="FFFFFF"/>
                    </a:solidFill>
                  </a:tcPr>
                </a:tc>
              </a:tr>
            </a:tbl>
          </a:graphicData>
        </a:graphic>
      </p:graphicFrame>
      <p:sp>
        <p:nvSpPr>
          <p:cNvPr id="8" name="Rounded Rectangle 7"/>
          <p:cNvSpPr/>
          <p:nvPr/>
        </p:nvSpPr>
        <p:spPr>
          <a:xfrm>
            <a:off x="7726679" y="3154680"/>
            <a:ext cx="3895344" cy="210312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973568" y="3337560"/>
            <a:ext cx="3401568" cy="1737360"/>
          </a:xfrm>
          <a:prstGeom prst="rect">
            <a:avLst/>
          </a:prstGeom>
          <a:noFill/>
        </p:spPr>
        <p:txBody>
          <a:bodyPr wrap="square" lIns="0" rIns="0" tIns="0" bIns="0">
            <a:spAutoFit/>
          </a:bodyPr>
          <a:lstStyle/>
          <a:p>
            <a:pPr algn="l">
              <a:spcAft>
                <a:spcPts val="400"/>
              </a:spcAft>
            </a:pPr>
            <a:r>
              <a:rPr sz="1400" b="1" i="0">
                <a:solidFill>
                  <a:srgbClr val="7A4A3F"/>
                </a:solidFill>
                <a:latin typeface="Calibri"/>
              </a:rPr>
              <a:t>Why both numbers are needed</a:t>
            </a:r>
          </a:p>
          <a:p>
            <a:pPr algn="l">
              <a:lnSpc>
                <a:spcPct val="104000"/>
              </a:lnSpc>
            </a:pPr>
            <a:r>
              <a:rPr sz="1200" b="0" i="0">
                <a:solidFill>
                  <a:srgbClr val="33302E"/>
                </a:solidFill>
                <a:latin typeface="Calibri"/>
              </a:rPr>
              <a:t>ses_index correlates above 0.8 with eight of the CBS variables, so shuffling it alone does almost nothing: the other fifteen rebuild it. Per-variable permutation says socio-economic standing is worth 0.011, the block says 0.374, and both are correct. Reporting only the first would have been misleading.</a:t>
            </a:r>
          </a:p>
        </p:txBody>
      </p:sp>
      <p:sp>
        <p:nvSpPr>
          <p:cNvPr id="10" name="TextBox 9"/>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11" name="TextBox 10"/>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29184"/>
            <a:ext cx="11055096" cy="566928"/>
          </a:xfrm>
          <a:prstGeom prst="rect">
            <a:avLst/>
          </a:prstGeom>
          <a:noFill/>
        </p:spPr>
        <p:txBody>
          <a:bodyPr wrap="square" lIns="0" rIns="0" tIns="0" bIns="0">
            <a:spAutoFit/>
          </a:bodyPr>
          <a:lstStyle/>
          <a:p>
            <a:pPr algn="l"/>
            <a:r>
              <a:rPr sz="3200" b="1" i="0">
                <a:solidFill>
                  <a:srgbClr val="33302E"/>
                </a:solidFill>
                <a:latin typeface="Cambria"/>
              </a:rPr>
              <a:t>Backup: every rebuild of the pipeline</a:t>
            </a:r>
          </a:p>
        </p:txBody>
      </p:sp>
      <p:sp>
        <p:nvSpPr>
          <p:cNvPr id="3" name="TextBox 2"/>
          <p:cNvSpPr txBox="1"/>
          <p:nvPr/>
        </p:nvSpPr>
        <p:spPr>
          <a:xfrm>
            <a:off x="566928" y="1005840"/>
            <a:ext cx="11055096" cy="274320"/>
          </a:xfrm>
          <a:prstGeom prst="rect">
            <a:avLst/>
          </a:prstGeom>
          <a:noFill/>
        </p:spPr>
        <p:txBody>
          <a:bodyPr wrap="square" lIns="0" rIns="0" tIns="0" bIns="0">
            <a:spAutoFit/>
          </a:bodyPr>
          <a:lstStyle/>
          <a:p>
            <a:pPr algn="l"/>
            <a:r>
              <a:rPr sz="1200" b="0" i="0">
                <a:solidFill>
                  <a:srgbClr val="8A7F76"/>
                </a:solidFill>
                <a:latin typeface="Calibri"/>
              </a:rPr>
              <a:t>Table 11. Each row rebuilds the analysis from the raw files to the flagged list, reusing the baseline's tuned settings.</a:t>
            </a:r>
          </a:p>
        </p:txBody>
      </p:sp>
      <p:graphicFrame>
        <p:nvGraphicFramePr>
          <p:cNvPr id="4" name="Table 3"/>
          <p:cNvGraphicFramePr>
            <a:graphicFrameLocks noGrp="1"/>
          </p:cNvGraphicFramePr>
          <p:nvPr/>
        </p:nvGraphicFramePr>
        <p:xfrm>
          <a:off x="566928" y="1371600"/>
          <a:ext cx="11055096" cy="2779776"/>
        </p:xfrm>
        <a:graphic>
          <a:graphicData uri="http://schemas.openxmlformats.org/drawingml/2006/table">
            <a:tbl>
              <a:tblPr firstRow="1">
                <a:tableStyleId>{5C22544A-7EE6-4342-B048-85BDC9FD1C3A}</a:tableStyleId>
              </a:tblPr>
              <a:tblGrid>
                <a:gridCol w="4206240"/>
                <a:gridCol w="914400"/>
                <a:gridCol w="1600200"/>
                <a:gridCol w="1188720"/>
                <a:gridCol w="1600200"/>
                <a:gridCol w="1545336"/>
              </a:tblGrid>
              <a:tr h="347472">
                <a:tc>
                  <a:txBody>
                    <a:bodyPr/>
                    <a:lstStyle/>
                    <a:p>
                      <a:pPr algn="l"/>
                      <a:r>
                        <a:rPr sz="1200" b="1">
                          <a:solidFill>
                            <a:srgbClr val="FFFFFF"/>
                          </a:solidFill>
                          <a:latin typeface="Calibri"/>
                        </a:rPr>
                        <a:t>Variation</a:t>
                      </a:r>
                    </a:p>
                  </a:txBody>
                  <a:tcPr marL="73152" marR="73152" marT="0" marB="0" anchor="ctr">
                    <a:solidFill>
                      <a:srgbClr val="50808E"/>
                    </a:solidFill>
                  </a:tcPr>
                </a:tc>
                <a:tc>
                  <a:txBody>
                    <a:bodyPr/>
                    <a:lstStyle/>
                    <a:p>
                      <a:pPr algn="r"/>
                      <a:r>
                        <a:rPr sz="1200" b="1">
                          <a:solidFill>
                            <a:srgbClr val="FFFFFF"/>
                          </a:solidFill>
                          <a:latin typeface="Calibri"/>
                        </a:rPr>
                        <a:t>Rows</a:t>
                      </a:r>
                    </a:p>
                  </a:txBody>
                  <a:tcPr marL="73152" marR="73152" marT="0" marB="0" anchor="ctr">
                    <a:solidFill>
                      <a:srgbClr val="50808E"/>
                    </a:solidFill>
                  </a:tcPr>
                </a:tc>
                <a:tc>
                  <a:txBody>
                    <a:bodyPr/>
                    <a:lstStyle/>
                    <a:p>
                      <a:pPr algn="r"/>
                      <a:r>
                        <a:rPr sz="1200" b="1">
                          <a:solidFill>
                            <a:srgbClr val="FFFFFF"/>
                          </a:solidFill>
                          <a:latin typeface="Calibri"/>
                        </a:rPr>
                        <a:t>Out-of-fold R²</a:t>
                      </a:r>
                    </a:p>
                  </a:txBody>
                  <a:tcPr marL="73152" marR="73152" marT="0" marB="0" anchor="ctr">
                    <a:solidFill>
                      <a:srgbClr val="50808E"/>
                    </a:solidFill>
                  </a:tcPr>
                </a:tc>
                <a:tc>
                  <a:txBody>
                    <a:bodyPr/>
                    <a:lstStyle/>
                    <a:p>
                      <a:pPr algn="r"/>
                      <a:r>
                        <a:rPr sz="1200" b="1">
                          <a:solidFill>
                            <a:srgbClr val="FFFFFF"/>
                          </a:solidFill>
                          <a:latin typeface="Calibri"/>
                        </a:rPr>
                        <a:t>Flagged</a:t>
                      </a:r>
                    </a:p>
                  </a:txBody>
                  <a:tcPr marL="73152" marR="73152" marT="0" marB="0" anchor="ctr">
                    <a:solidFill>
                      <a:srgbClr val="50808E"/>
                    </a:solidFill>
                  </a:tcPr>
                </a:tc>
                <a:tc>
                  <a:txBody>
                    <a:bodyPr/>
                    <a:lstStyle/>
                    <a:p>
                      <a:pPr algn="r"/>
                      <a:r>
                        <a:rPr sz="1200" b="1">
                          <a:solidFill>
                            <a:srgbClr val="FFFFFF"/>
                          </a:solidFill>
                          <a:latin typeface="Calibri"/>
                        </a:rPr>
                        <a:t>Kept of the 65</a:t>
                      </a:r>
                    </a:p>
                  </a:txBody>
                  <a:tcPr marL="73152" marR="73152" marT="0" marB="0" anchor="ctr">
                    <a:solidFill>
                      <a:srgbClr val="50808E"/>
                    </a:solidFill>
                  </a:tcPr>
                </a:tc>
                <a:tc>
                  <a:txBody>
                    <a:bodyPr/>
                    <a:lstStyle/>
                    <a:p>
                      <a:pPr algn="r"/>
                      <a:r>
                        <a:rPr sz="1200" b="1">
                          <a:solidFill>
                            <a:srgbClr val="FFFFFF"/>
                          </a:solidFill>
                          <a:latin typeface="Calibri"/>
                        </a:rPr>
                        <a:t>Changed direction</a:t>
                      </a:r>
                    </a:p>
                  </a:txBody>
                  <a:tcPr marL="73152" marR="73152" marT="0" marB="0" anchor="ctr">
                    <a:solidFill>
                      <a:srgbClr val="50808E"/>
                    </a:solidFill>
                  </a:tcPr>
                </a:tc>
              </a:tr>
              <a:tr h="347472">
                <a:tc>
                  <a:txBody>
                    <a:bodyPr/>
                    <a:lstStyle/>
                    <a:p>
                      <a:pPr algn="l"/>
                      <a:r>
                        <a:rPr sz="1200" b="0">
                          <a:solidFill>
                            <a:srgbClr val="33302E"/>
                          </a:solidFill>
                          <a:latin typeface="Calibri"/>
                        </a:rPr>
                        <a:t>Baseline, as reported</a:t>
                      </a:r>
                    </a:p>
                  </a:txBody>
                  <a:tcPr marL="73152" marR="73152" marT="0" marB="0" anchor="ctr">
                    <a:solidFill>
                      <a:srgbClr val="FFFFFF"/>
                    </a:solidFill>
                  </a:tcPr>
                </a:tc>
                <a:tc>
                  <a:txBody>
                    <a:bodyPr/>
                    <a:lstStyle/>
                    <a:p>
                      <a:pPr algn="r"/>
                      <a:r>
                        <a:rPr sz="1200" b="0">
                          <a:solidFill>
                            <a:srgbClr val="33302E"/>
                          </a:solidFill>
                          <a:latin typeface="Calibri"/>
                        </a:rPr>
                        <a:t>1,749</a:t>
                      </a:r>
                    </a:p>
                  </a:txBody>
                  <a:tcPr marL="73152" marR="73152" marT="0" marB="0" anchor="ctr">
                    <a:solidFill>
                      <a:srgbClr val="FFFFFF"/>
                    </a:solidFill>
                  </a:tcPr>
                </a:tc>
                <a:tc>
                  <a:txBody>
                    <a:bodyPr/>
                    <a:lstStyle/>
                    <a:p>
                      <a:pPr algn="r"/>
                      <a:r>
                        <a:rPr sz="1200" b="0">
                          <a:solidFill>
                            <a:srgbClr val="33302E"/>
                          </a:solidFill>
                          <a:latin typeface="Calibri"/>
                        </a:rPr>
                        <a:t>0.537</a:t>
                      </a:r>
                    </a:p>
                  </a:txBody>
                  <a:tcPr marL="73152" marR="73152" marT="0" marB="0" anchor="ctr">
                    <a:solidFill>
                      <a:srgbClr val="FFFFFF"/>
                    </a:solidFill>
                  </a:tcPr>
                </a:tc>
                <a:tc>
                  <a:txBody>
                    <a:bodyPr/>
                    <a:lstStyle/>
                    <a:p>
                      <a:pPr algn="r"/>
                      <a:r>
                        <a:rPr sz="1200" b="0">
                          <a:solidFill>
                            <a:srgbClr val="33302E"/>
                          </a:solidFill>
                          <a:latin typeface="Calibri"/>
                        </a:rPr>
                        <a:t>65</a:t>
                      </a:r>
                    </a:p>
                  </a:txBody>
                  <a:tcPr marL="73152" marR="73152" marT="0" marB="0" anchor="ctr">
                    <a:solidFill>
                      <a:srgbClr val="FFFFFF"/>
                    </a:solidFill>
                  </a:tcPr>
                </a:tc>
                <a:tc>
                  <a:txBody>
                    <a:bodyPr/>
                    <a:lstStyle/>
                    <a:p>
                      <a:pPr algn="r"/>
                      <a:r>
                        <a:rPr sz="1200" b="0">
                          <a:solidFill>
                            <a:srgbClr val="33302E"/>
                          </a:solidFill>
                          <a:latin typeface="Calibri"/>
                        </a:rPr>
                        <a:t>65</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r h="347472">
                <a:tc>
                  <a:txBody>
                    <a:bodyPr/>
                    <a:lstStyle/>
                    <a:p>
                      <a:pPr algn="l"/>
                      <a:r>
                        <a:rPr sz="1200" b="0">
                          <a:solidFill>
                            <a:srgbClr val="33302E"/>
                          </a:solidFill>
                          <a:latin typeface="Calibri"/>
                        </a:rPr>
                        <a:t>Sector rows instead of combined totals</a:t>
                      </a:r>
                    </a:p>
                  </a:txBody>
                  <a:tcPr marL="73152" marR="73152" marT="0" marB="0" anchor="ctr">
                    <a:solidFill>
                      <a:srgbClr val="FFFFFF"/>
                    </a:solidFill>
                  </a:tcPr>
                </a:tc>
                <a:tc>
                  <a:txBody>
                    <a:bodyPr/>
                    <a:lstStyle/>
                    <a:p>
                      <a:pPr algn="r"/>
                      <a:r>
                        <a:rPr sz="1200" b="0">
                          <a:solidFill>
                            <a:srgbClr val="33302E"/>
                          </a:solidFill>
                          <a:latin typeface="Calibri"/>
                        </a:rPr>
                        <a:t>1,826</a:t>
                      </a:r>
                    </a:p>
                  </a:txBody>
                  <a:tcPr marL="73152" marR="73152" marT="0" marB="0" anchor="ctr">
                    <a:solidFill>
                      <a:srgbClr val="FFFFFF"/>
                    </a:solidFill>
                  </a:tcPr>
                </a:tc>
                <a:tc>
                  <a:txBody>
                    <a:bodyPr/>
                    <a:lstStyle/>
                    <a:p>
                      <a:pPr algn="r"/>
                      <a:r>
                        <a:rPr sz="1200" b="0">
                          <a:solidFill>
                            <a:srgbClr val="33302E"/>
                          </a:solidFill>
                          <a:latin typeface="Calibri"/>
                        </a:rPr>
                        <a:t>0.515</a:t>
                      </a:r>
                    </a:p>
                  </a:txBody>
                  <a:tcPr marL="73152" marR="73152" marT="0" marB="0" anchor="ctr">
                    <a:solidFill>
                      <a:srgbClr val="FFFFFF"/>
                    </a:solidFill>
                  </a:tcPr>
                </a:tc>
                <a:tc>
                  <a:txBody>
                    <a:bodyPr/>
                    <a:lstStyle/>
                    <a:p>
                      <a:pPr algn="r"/>
                      <a:r>
                        <a:rPr sz="1200" b="0">
                          <a:solidFill>
                            <a:srgbClr val="33302E"/>
                          </a:solidFill>
                          <a:latin typeface="Calibri"/>
                        </a:rPr>
                        <a:t>53</a:t>
                      </a:r>
                    </a:p>
                  </a:txBody>
                  <a:tcPr marL="73152" marR="73152" marT="0" marB="0" anchor="ctr">
                    <a:solidFill>
                      <a:srgbClr val="FFFFFF"/>
                    </a:solidFill>
                  </a:tcPr>
                </a:tc>
                <a:tc>
                  <a:txBody>
                    <a:bodyPr/>
                    <a:lstStyle/>
                    <a:p>
                      <a:pPr algn="r"/>
                      <a:r>
                        <a:rPr sz="1200" b="0">
                          <a:solidFill>
                            <a:srgbClr val="33302E"/>
                          </a:solidFill>
                          <a:latin typeface="Calibri"/>
                        </a:rPr>
                        <a:t>52</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r h="347472">
                <a:tc>
                  <a:txBody>
                    <a:bodyPr/>
                    <a:lstStyle/>
                    <a:p>
                      <a:pPr algn="l"/>
                      <a:r>
                        <a:rPr sz="1200" b="0">
                          <a:solidFill>
                            <a:srgbClr val="33302E"/>
                          </a:solidFill>
                          <a:latin typeface="Calibri"/>
                        </a:rPr>
                        <a:t>All years 2015 to 2019</a:t>
                      </a:r>
                    </a:p>
                  </a:txBody>
                  <a:tcPr marL="73152" marR="73152" marT="0" marB="0" anchor="ctr">
                    <a:solidFill>
                      <a:srgbClr val="FFFFFF"/>
                    </a:solidFill>
                  </a:tcPr>
                </a:tc>
                <a:tc>
                  <a:txBody>
                    <a:bodyPr/>
                    <a:lstStyle/>
                    <a:p>
                      <a:pPr algn="r"/>
                      <a:r>
                        <a:rPr sz="1200" b="0">
                          <a:solidFill>
                            <a:srgbClr val="33302E"/>
                          </a:solidFill>
                          <a:latin typeface="Calibri"/>
                        </a:rPr>
                        <a:t>2,540</a:t>
                      </a:r>
                    </a:p>
                  </a:txBody>
                  <a:tcPr marL="73152" marR="73152" marT="0" marB="0" anchor="ctr">
                    <a:solidFill>
                      <a:srgbClr val="FFFFFF"/>
                    </a:solidFill>
                  </a:tcPr>
                </a:tc>
                <a:tc>
                  <a:txBody>
                    <a:bodyPr/>
                    <a:lstStyle/>
                    <a:p>
                      <a:pPr algn="r"/>
                      <a:r>
                        <a:rPr sz="1200" b="0">
                          <a:solidFill>
                            <a:srgbClr val="33302E"/>
                          </a:solidFill>
                          <a:latin typeface="Calibri"/>
                        </a:rPr>
                        <a:t>0.570</a:t>
                      </a:r>
                    </a:p>
                  </a:txBody>
                  <a:tcPr marL="73152" marR="73152" marT="0" marB="0" anchor="ctr">
                    <a:solidFill>
                      <a:srgbClr val="FFFFFF"/>
                    </a:solidFill>
                  </a:tcPr>
                </a:tc>
                <a:tc>
                  <a:txBody>
                    <a:bodyPr/>
                    <a:lstStyle/>
                    <a:p>
                      <a:pPr algn="r"/>
                      <a:r>
                        <a:rPr sz="1200" b="0">
                          <a:solidFill>
                            <a:srgbClr val="33302E"/>
                          </a:solidFill>
                          <a:latin typeface="Calibri"/>
                        </a:rPr>
                        <a:t>44</a:t>
                      </a:r>
                    </a:p>
                  </a:txBody>
                  <a:tcPr marL="73152" marR="73152" marT="0" marB="0" anchor="ctr">
                    <a:solidFill>
                      <a:srgbClr val="FFFFFF"/>
                    </a:solidFill>
                  </a:tcPr>
                </a:tc>
                <a:tc>
                  <a:txBody>
                    <a:bodyPr/>
                    <a:lstStyle/>
                    <a:p>
                      <a:pPr algn="r"/>
                      <a:r>
                        <a:rPr sz="1200" b="0">
                          <a:solidFill>
                            <a:srgbClr val="33302E"/>
                          </a:solidFill>
                          <a:latin typeface="Calibri"/>
                        </a:rPr>
                        <a:t>38</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r h="347472">
                <a:tc>
                  <a:txBody>
                    <a:bodyPr/>
                    <a:lstStyle/>
                    <a:p>
                      <a:pPr algn="l"/>
                      <a:r>
                        <a:rPr sz="1200" b="0">
                          <a:solidFill>
                            <a:srgbClr val="33302E"/>
                          </a:solidFill>
                          <a:latin typeface="Calibri"/>
                        </a:rPr>
                        <a:t>Drop cells under 30 pupils tested</a:t>
                      </a:r>
                    </a:p>
                  </a:txBody>
                  <a:tcPr marL="73152" marR="73152" marT="0" marB="0" anchor="ctr">
                    <a:solidFill>
                      <a:srgbClr val="FFFFFF"/>
                    </a:solidFill>
                  </a:tcPr>
                </a:tc>
                <a:tc>
                  <a:txBody>
                    <a:bodyPr/>
                    <a:lstStyle/>
                    <a:p>
                      <a:pPr algn="r"/>
                      <a:r>
                        <a:rPr sz="1200" b="0">
                          <a:solidFill>
                            <a:srgbClr val="33302E"/>
                          </a:solidFill>
                          <a:latin typeface="Calibri"/>
                        </a:rPr>
                        <a:t>1,747</a:t>
                      </a:r>
                    </a:p>
                  </a:txBody>
                  <a:tcPr marL="73152" marR="73152" marT="0" marB="0" anchor="ctr">
                    <a:solidFill>
                      <a:srgbClr val="FFFFFF"/>
                    </a:solidFill>
                  </a:tcPr>
                </a:tc>
                <a:tc>
                  <a:txBody>
                    <a:bodyPr/>
                    <a:lstStyle/>
                    <a:p>
                      <a:pPr algn="r"/>
                      <a:r>
                        <a:rPr sz="1200" b="0">
                          <a:solidFill>
                            <a:srgbClr val="33302E"/>
                          </a:solidFill>
                          <a:latin typeface="Calibri"/>
                        </a:rPr>
                        <a:t>0.536</a:t>
                      </a:r>
                    </a:p>
                  </a:txBody>
                  <a:tcPr marL="73152" marR="73152" marT="0" marB="0" anchor="ctr">
                    <a:solidFill>
                      <a:srgbClr val="FFFFFF"/>
                    </a:solidFill>
                  </a:tcPr>
                </a:tc>
                <a:tc>
                  <a:txBody>
                    <a:bodyPr/>
                    <a:lstStyle/>
                    <a:p>
                      <a:pPr algn="r"/>
                      <a:r>
                        <a:rPr sz="1200" b="0">
                          <a:solidFill>
                            <a:srgbClr val="33302E"/>
                          </a:solidFill>
                          <a:latin typeface="Calibri"/>
                        </a:rPr>
                        <a:t>64</a:t>
                      </a:r>
                    </a:p>
                  </a:txBody>
                  <a:tcPr marL="73152" marR="73152" marT="0" marB="0" anchor="ctr">
                    <a:solidFill>
                      <a:srgbClr val="FFFFFF"/>
                    </a:solidFill>
                  </a:tcPr>
                </a:tc>
                <a:tc>
                  <a:txBody>
                    <a:bodyPr/>
                    <a:lstStyle/>
                    <a:p>
                      <a:pPr algn="r"/>
                      <a:r>
                        <a:rPr sz="1200" b="0">
                          <a:solidFill>
                            <a:srgbClr val="33302E"/>
                          </a:solidFill>
                          <a:latin typeface="Calibri"/>
                        </a:rPr>
                        <a:t>57</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r h="347472">
                <a:tc>
                  <a:txBody>
                    <a:bodyPr/>
                    <a:lstStyle/>
                    <a:p>
                      <a:pPr algn="l"/>
                      <a:r>
                        <a:rPr sz="1200" b="0">
                          <a:solidFill>
                            <a:srgbClr val="33302E"/>
                          </a:solidFill>
                          <a:latin typeface="Calibri"/>
                        </a:rPr>
                        <a:t>Drop cells under 50 pupils tested</a:t>
                      </a:r>
                    </a:p>
                  </a:txBody>
                  <a:tcPr marL="73152" marR="73152" marT="0" marB="0" anchor="ctr">
                    <a:solidFill>
                      <a:srgbClr val="FFFFFF"/>
                    </a:solidFill>
                  </a:tcPr>
                </a:tc>
                <a:tc>
                  <a:txBody>
                    <a:bodyPr/>
                    <a:lstStyle/>
                    <a:p>
                      <a:pPr algn="r"/>
                      <a:r>
                        <a:rPr sz="1200" b="0">
                          <a:solidFill>
                            <a:srgbClr val="33302E"/>
                          </a:solidFill>
                          <a:latin typeface="Calibri"/>
                        </a:rPr>
                        <a:t>1,653</a:t>
                      </a:r>
                    </a:p>
                  </a:txBody>
                  <a:tcPr marL="73152" marR="73152" marT="0" marB="0" anchor="ctr">
                    <a:solidFill>
                      <a:srgbClr val="FFFFFF"/>
                    </a:solidFill>
                  </a:tcPr>
                </a:tc>
                <a:tc>
                  <a:txBody>
                    <a:bodyPr/>
                    <a:lstStyle/>
                    <a:p>
                      <a:pPr algn="r"/>
                      <a:r>
                        <a:rPr sz="1200" b="0">
                          <a:solidFill>
                            <a:srgbClr val="33302E"/>
                          </a:solidFill>
                          <a:latin typeface="Calibri"/>
                        </a:rPr>
                        <a:t>0.560</a:t>
                      </a:r>
                    </a:p>
                  </a:txBody>
                  <a:tcPr marL="73152" marR="73152" marT="0" marB="0" anchor="ctr">
                    <a:solidFill>
                      <a:srgbClr val="FFFFFF"/>
                    </a:solidFill>
                  </a:tcPr>
                </a:tc>
                <a:tc>
                  <a:txBody>
                    <a:bodyPr/>
                    <a:lstStyle/>
                    <a:p>
                      <a:pPr algn="r"/>
                      <a:r>
                        <a:rPr sz="1200" b="0">
                          <a:solidFill>
                            <a:srgbClr val="33302E"/>
                          </a:solidFill>
                          <a:latin typeface="Calibri"/>
                        </a:rPr>
                        <a:t>68</a:t>
                      </a:r>
                    </a:p>
                  </a:txBody>
                  <a:tcPr marL="73152" marR="73152" marT="0" marB="0" anchor="ctr">
                    <a:solidFill>
                      <a:srgbClr val="FFFFFF"/>
                    </a:solidFill>
                  </a:tcPr>
                </a:tc>
                <a:tc>
                  <a:txBody>
                    <a:bodyPr/>
                    <a:lstStyle/>
                    <a:p>
                      <a:pPr algn="r"/>
                      <a:r>
                        <a:rPr sz="1200" b="0">
                          <a:solidFill>
                            <a:srgbClr val="33302E"/>
                          </a:solidFill>
                          <a:latin typeface="Calibri"/>
                        </a:rPr>
                        <a:t>55</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r h="347472">
                <a:tc>
                  <a:txBody>
                    <a:bodyPr/>
                    <a:lstStyle/>
                    <a:p>
                      <a:pPr algn="l"/>
                      <a:r>
                        <a:rPr sz="1200" b="0">
                          <a:solidFill>
                            <a:srgbClr val="33302E"/>
                          </a:solidFill>
                          <a:latin typeface="Calibri"/>
                        </a:rPr>
                        <a:t>ses_cluster instead of ses_index</a:t>
                      </a:r>
                    </a:p>
                  </a:txBody>
                  <a:tcPr marL="73152" marR="73152" marT="0" marB="0" anchor="ctr">
                    <a:solidFill>
                      <a:srgbClr val="FFFFFF"/>
                    </a:solidFill>
                  </a:tcPr>
                </a:tc>
                <a:tc>
                  <a:txBody>
                    <a:bodyPr/>
                    <a:lstStyle/>
                    <a:p>
                      <a:pPr algn="r"/>
                      <a:r>
                        <a:rPr sz="1200" b="0">
                          <a:solidFill>
                            <a:srgbClr val="33302E"/>
                          </a:solidFill>
                          <a:latin typeface="Calibri"/>
                        </a:rPr>
                        <a:t>1,749</a:t>
                      </a:r>
                    </a:p>
                  </a:txBody>
                  <a:tcPr marL="73152" marR="73152" marT="0" marB="0" anchor="ctr">
                    <a:solidFill>
                      <a:srgbClr val="FFFFFF"/>
                    </a:solidFill>
                  </a:tcPr>
                </a:tc>
                <a:tc>
                  <a:txBody>
                    <a:bodyPr/>
                    <a:lstStyle/>
                    <a:p>
                      <a:pPr algn="r"/>
                      <a:r>
                        <a:rPr sz="1200" b="0">
                          <a:solidFill>
                            <a:srgbClr val="33302E"/>
                          </a:solidFill>
                          <a:latin typeface="Calibri"/>
                        </a:rPr>
                        <a:t>0.541</a:t>
                      </a:r>
                    </a:p>
                  </a:txBody>
                  <a:tcPr marL="73152" marR="73152" marT="0" marB="0" anchor="ctr">
                    <a:solidFill>
                      <a:srgbClr val="FFFFFF"/>
                    </a:solidFill>
                  </a:tcPr>
                </a:tc>
                <a:tc>
                  <a:txBody>
                    <a:bodyPr/>
                    <a:lstStyle/>
                    <a:p>
                      <a:pPr algn="r"/>
                      <a:r>
                        <a:rPr sz="1200" b="0">
                          <a:solidFill>
                            <a:srgbClr val="33302E"/>
                          </a:solidFill>
                          <a:latin typeface="Calibri"/>
                        </a:rPr>
                        <a:t>62</a:t>
                      </a:r>
                    </a:p>
                  </a:txBody>
                  <a:tcPr marL="73152" marR="73152" marT="0" marB="0" anchor="ctr">
                    <a:solidFill>
                      <a:srgbClr val="FFFFFF"/>
                    </a:solidFill>
                  </a:tcPr>
                </a:tc>
                <a:tc>
                  <a:txBody>
                    <a:bodyPr/>
                    <a:lstStyle/>
                    <a:p>
                      <a:pPr algn="r"/>
                      <a:r>
                        <a:rPr sz="1200" b="0">
                          <a:solidFill>
                            <a:srgbClr val="33302E"/>
                          </a:solidFill>
                          <a:latin typeface="Calibri"/>
                        </a:rPr>
                        <a:t>61</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r h="347472">
                <a:tc>
                  <a:txBody>
                    <a:bodyPr/>
                    <a:lstStyle/>
                    <a:p>
                      <a:pPr algn="l"/>
                      <a:r>
                        <a:rPr sz="1200" b="0">
                          <a:solidFill>
                            <a:srgbClr val="33302E"/>
                          </a:solidFill>
                          <a:latin typeface="Calibri"/>
                        </a:rPr>
                        <a:t>Linear regression instead of the forest</a:t>
                      </a:r>
                    </a:p>
                  </a:txBody>
                  <a:tcPr marL="73152" marR="73152" marT="0" marB="0" anchor="ctr">
                    <a:solidFill>
                      <a:srgbClr val="FFFFFF"/>
                    </a:solidFill>
                  </a:tcPr>
                </a:tc>
                <a:tc>
                  <a:txBody>
                    <a:bodyPr/>
                    <a:lstStyle/>
                    <a:p>
                      <a:pPr algn="r"/>
                      <a:r>
                        <a:rPr sz="1200" b="0">
                          <a:solidFill>
                            <a:srgbClr val="33302E"/>
                          </a:solidFill>
                          <a:latin typeface="Calibri"/>
                        </a:rPr>
                        <a:t>1,749</a:t>
                      </a:r>
                    </a:p>
                  </a:txBody>
                  <a:tcPr marL="73152" marR="73152" marT="0" marB="0" anchor="ctr">
                    <a:solidFill>
                      <a:srgbClr val="FFFFFF"/>
                    </a:solidFill>
                  </a:tcPr>
                </a:tc>
                <a:tc>
                  <a:txBody>
                    <a:bodyPr/>
                    <a:lstStyle/>
                    <a:p>
                      <a:pPr algn="r"/>
                      <a:r>
                        <a:rPr sz="1200" b="0">
                          <a:solidFill>
                            <a:srgbClr val="33302E"/>
                          </a:solidFill>
                          <a:latin typeface="Calibri"/>
                        </a:rPr>
                        <a:t>0.400</a:t>
                      </a:r>
                    </a:p>
                  </a:txBody>
                  <a:tcPr marL="73152" marR="73152" marT="0" marB="0" anchor="ctr">
                    <a:solidFill>
                      <a:srgbClr val="FFFFFF"/>
                    </a:solidFill>
                  </a:tcPr>
                </a:tc>
                <a:tc>
                  <a:txBody>
                    <a:bodyPr/>
                    <a:lstStyle/>
                    <a:p>
                      <a:pPr algn="r"/>
                      <a:r>
                        <a:rPr sz="1200" b="0">
                          <a:solidFill>
                            <a:srgbClr val="33302E"/>
                          </a:solidFill>
                          <a:latin typeface="Calibri"/>
                        </a:rPr>
                        <a:t>51</a:t>
                      </a:r>
                    </a:p>
                  </a:txBody>
                  <a:tcPr marL="73152" marR="73152" marT="0" marB="0" anchor="ctr">
                    <a:solidFill>
                      <a:srgbClr val="FFFFFF"/>
                    </a:solidFill>
                  </a:tcPr>
                </a:tc>
                <a:tc>
                  <a:txBody>
                    <a:bodyPr/>
                    <a:lstStyle/>
                    <a:p>
                      <a:pPr algn="r"/>
                      <a:r>
                        <a:rPr sz="1200" b="0">
                          <a:solidFill>
                            <a:srgbClr val="33302E"/>
                          </a:solidFill>
                          <a:latin typeface="Calibri"/>
                        </a:rPr>
                        <a:t>36</a:t>
                      </a:r>
                    </a:p>
                  </a:txBody>
                  <a:tcPr marL="73152" marR="73152" marT="0" marB="0" anchor="ctr">
                    <a:solidFill>
                      <a:srgbClr val="FFFFFF"/>
                    </a:solidFill>
                  </a:tcPr>
                </a:tc>
                <a:tc>
                  <a:txBody>
                    <a:bodyPr/>
                    <a:lstStyle/>
                    <a:p>
                      <a:pPr algn="r"/>
                      <a:r>
                        <a:rPr sz="1200" b="0">
                          <a:solidFill>
                            <a:srgbClr val="33302E"/>
                          </a:solidFill>
                          <a:latin typeface="Calibri"/>
                        </a:rPr>
                        <a:t>0</a:t>
                      </a:r>
                    </a:p>
                  </a:txBody>
                  <a:tcPr marL="73152" marR="73152" marT="0" marB="0" anchor="ctr">
                    <a:solidFill>
                      <a:srgbClr val="FFFFFF"/>
                    </a:solidFill>
                  </a:tcPr>
                </a:tc>
              </a:tr>
            </a:tbl>
          </a:graphicData>
        </a:graphic>
      </p:graphicFrame>
      <p:sp>
        <p:nvSpPr>
          <p:cNvPr id="5" name="Rounded Rectangle 4"/>
          <p:cNvSpPr/>
          <p:nvPr/>
        </p:nvSpPr>
        <p:spPr>
          <a:xfrm>
            <a:off x="566928" y="4343400"/>
            <a:ext cx="11055096" cy="1600200"/>
          </a:xfrm>
          <a:prstGeom prst="roundRect">
            <a:avLst>
              <a:gd name="adj" fmla="val 5000"/>
            </a:avLst>
          </a:prstGeom>
          <a:solidFill>
            <a:srgbClr val="EFE9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4526280"/>
            <a:ext cx="10415016" cy="1280160"/>
          </a:xfrm>
          <a:prstGeom prst="rect">
            <a:avLst/>
          </a:prstGeom>
          <a:noFill/>
        </p:spPr>
        <p:txBody>
          <a:bodyPr wrap="square" lIns="0" rIns="0" tIns="0" bIns="0">
            <a:spAutoFit/>
          </a:bodyPr>
          <a:lstStyle/>
          <a:p>
            <a:pPr algn="l">
              <a:spcAft>
                <a:spcPts val="400"/>
              </a:spcAft>
            </a:pPr>
            <a:r>
              <a:rPr sz="1500" b="1" i="0">
                <a:solidFill>
                  <a:srgbClr val="B85042"/>
                </a:solidFill>
                <a:latin typeface="Calibri"/>
              </a:rPr>
              <a:t>The last column is zero on every row</a:t>
            </a:r>
          </a:p>
          <a:p>
            <a:pPr algn="l">
              <a:lnSpc>
                <a:spcPct val="104000"/>
              </a:lnSpc>
            </a:pPr>
            <a:r>
              <a:rPr sz="1300" b="0" i="0">
                <a:solidFill>
                  <a:srgbClr val="33302E"/>
                </a:solidFill>
                <a:latin typeface="Calibri"/>
              </a:rPr>
              <a:t>Across six rebuilds, including one that changes the model family and one that adds two years of data, no authority ever flips from over-performing to under-performing. Everything else is more qualified: the choice of socio-economic measure barely matters (61 of 65 kept), the data-shape choices cost a handful each, and the year window matters most. Adding 2015 and 2019 keeps only 38, which is mechanical: more years means more rows per authority, and the rule needs every one of them to agree.</a:t>
            </a:r>
          </a:p>
        </p:txBody>
      </p:sp>
      <p:sp>
        <p:nvSpPr>
          <p:cNvPr id="7" name="TextBox 6"/>
          <p:cNvSpPr txBox="1"/>
          <p:nvPr/>
        </p:nvSpPr>
        <p:spPr>
          <a:xfrm>
            <a:off x="566928" y="6382512"/>
            <a:ext cx="7315200" cy="274320"/>
          </a:xfrm>
          <a:prstGeom prst="rect">
            <a:avLst/>
          </a:prstGeom>
          <a:noFill/>
        </p:spPr>
        <p:txBody>
          <a:bodyPr wrap="square" lIns="0" rIns="0" tIns="0" bIns="0">
            <a:spAutoFit/>
          </a:bodyPr>
          <a:lstStyle/>
          <a:p>
            <a:pPr algn="l"/>
            <a:r>
              <a:rPr sz="950" b="0" i="0">
                <a:solidFill>
                  <a:srgbClr val="8A7F76"/>
                </a:solidFill>
                <a:latin typeface="Calibri"/>
              </a:rPr>
              <a:t>Beyond the Cluster  ·  Tchizik &amp; Cohen</a:t>
            </a:r>
          </a:p>
        </p:txBody>
      </p:sp>
      <p:sp>
        <p:nvSpPr>
          <p:cNvPr id="8" name="TextBox 7"/>
          <p:cNvSpPr txBox="1"/>
          <p:nvPr/>
        </p:nvSpPr>
        <p:spPr>
          <a:xfrm>
            <a:off x="10527487" y="6382512"/>
            <a:ext cx="1097280" cy="274320"/>
          </a:xfrm>
          <a:prstGeom prst="rect">
            <a:avLst/>
          </a:prstGeom>
          <a:noFill/>
        </p:spPr>
        <p:txBody>
          <a:bodyPr wrap="square" lIns="0" rIns="0" tIns="0" bIns="0">
            <a:spAutoFit/>
          </a:bodyPr>
          <a:lstStyle/>
          <a:p>
            <a:pPr algn="r"/>
            <a:r>
              <a:rPr sz="950" b="0" i="0">
                <a:solidFill>
                  <a:srgbClr val="8A7F76"/>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Cluster</dc:title>
  <dc:subject>Which Israeli local authorities out- and under-perform their socio-economic standing in national achievement tests</dc:subject>
  <dc:creator>Stav Tchizik; Or Cohen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